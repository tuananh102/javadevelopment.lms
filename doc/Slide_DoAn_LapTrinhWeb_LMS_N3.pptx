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2" name="Shape 9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45720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91440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137160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182880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608965" y="92074"/>
            <a:ext cx="1096137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0F172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5" name="Rectangle 2"/>
          <p:cNvSpPr/>
          <p:nvPr/>
        </p:nvSpPr>
        <p:spPr>
          <a:xfrm>
            <a:off x="-1" y="6729983"/>
            <a:ext cx="12191697" cy="128017"/>
          </a:xfrm>
          <a:prstGeom prst="rect">
            <a:avLst/>
          </a:prstGeom>
          <a:solidFill>
            <a:srgbClr val="4F39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98" name="Rounded Rectangle 3"/>
          <p:cNvGrpSpPr/>
          <p:nvPr/>
        </p:nvGrpSpPr>
        <p:grpSpPr>
          <a:xfrm>
            <a:off x="640080" y="548640"/>
            <a:ext cx="566929" cy="384049"/>
            <a:chOff x="0" y="0"/>
            <a:chExt cx="566927" cy="384047"/>
          </a:xfrm>
        </p:grpSpPr>
        <p:sp>
          <p:nvSpPr>
            <p:cNvPr id="96" name="Rounded Rectangle"/>
            <p:cNvSpPr/>
            <p:nvPr/>
          </p:nvSpPr>
          <p:spPr>
            <a:xfrm>
              <a:off x="0" y="0"/>
              <a:ext cx="566928" cy="384048"/>
            </a:xfrm>
            <a:prstGeom prst="roundRect">
              <a:avLst>
                <a:gd name="adj" fmla="val 50000"/>
              </a:avLst>
            </a:prstGeom>
            <a:solidFill>
              <a:srgbClr val="4F39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97" name="LMS"/>
            <p:cNvSpPr txBox="1"/>
            <p:nvPr/>
          </p:nvSpPr>
          <p:spPr>
            <a:xfrm>
              <a:off x="58476" y="77723"/>
              <a:ext cx="449976" cy="228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500" b="1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defRPr>
              </a:lvl1pPr>
            </a:lstStyle>
            <a:p>
              <a:r>
                <a:t>LMS</a:t>
              </a:r>
            </a:p>
          </p:txBody>
        </p:sp>
      </p:grpSp>
      <p:sp>
        <p:nvSpPr>
          <p:cNvPr id="99" name="TextBox 4"/>
          <p:cNvSpPr txBox="1"/>
          <p:nvPr/>
        </p:nvSpPr>
        <p:spPr>
          <a:xfrm>
            <a:off x="1325880" y="603504"/>
            <a:ext cx="457200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700" b="1">
                <a:solidFill>
                  <a:srgbClr val="FFFFFF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LMS Platform</a:t>
            </a:r>
          </a:p>
        </p:txBody>
      </p:sp>
      <p:sp>
        <p:nvSpPr>
          <p:cNvPr id="100" name="TextBox 5"/>
          <p:cNvSpPr txBox="1"/>
          <p:nvPr/>
        </p:nvSpPr>
        <p:spPr>
          <a:xfrm>
            <a:off x="640080" y="1874518"/>
            <a:ext cx="109728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500" b="1">
                <a:solidFill>
                  <a:srgbClr val="7C86FF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BÁO CÁO ĐỒ ÁN MÔN HỌC · LẬP TRÌNH WEB (JAVA) · NHÓM 03</a:t>
            </a:r>
          </a:p>
        </p:txBody>
      </p:sp>
      <p:sp>
        <p:nvSpPr>
          <p:cNvPr id="101" name="TextBox 6"/>
          <p:cNvSpPr txBox="1"/>
          <p:nvPr/>
        </p:nvSpPr>
        <p:spPr>
          <a:xfrm>
            <a:off x="640079" y="2286000"/>
            <a:ext cx="11064242" cy="1320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8000"/>
              </a:lnSpc>
              <a:defRPr sz="4100" b="1">
                <a:solidFill>
                  <a:srgbClr val="FFFFFF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Xây dựng hệ thống quản lý học tập</a:t>
            </a:r>
          </a:p>
          <a:p>
            <a:pPr>
              <a:lnSpc>
                <a:spcPct val="108000"/>
              </a:lnSpc>
              <a:defRPr sz="4100" b="1">
                <a:solidFill>
                  <a:srgbClr val="FFFFFF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trực tuyến (LMS)</a:t>
            </a:r>
          </a:p>
        </p:txBody>
      </p:sp>
      <p:sp>
        <p:nvSpPr>
          <p:cNvPr id="102" name="TextBox 7"/>
          <p:cNvSpPr txBox="1"/>
          <p:nvPr/>
        </p:nvSpPr>
        <p:spPr>
          <a:xfrm>
            <a:off x="640080" y="3977638"/>
            <a:ext cx="1097280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700">
                <a:solidFill>
                  <a:srgbClr val="CAD5E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Kiến trúc client–server tách rời: REST API Java trên Spring Boot ↔ SPA React</a:t>
            </a:r>
          </a:p>
        </p:txBody>
      </p:sp>
      <p:grpSp>
        <p:nvGrpSpPr>
          <p:cNvPr id="105" name="Rounded Rectangle 8"/>
          <p:cNvGrpSpPr/>
          <p:nvPr/>
        </p:nvGrpSpPr>
        <p:grpSpPr>
          <a:xfrm>
            <a:off x="640080" y="4572000"/>
            <a:ext cx="1028701" cy="347473"/>
            <a:chOff x="0" y="0"/>
            <a:chExt cx="1028700" cy="347472"/>
          </a:xfrm>
        </p:grpSpPr>
        <p:sp>
          <p:nvSpPr>
            <p:cNvPr id="103" name="Rounded Rectangle"/>
            <p:cNvSpPr/>
            <p:nvPr/>
          </p:nvSpPr>
          <p:spPr>
            <a:xfrm>
              <a:off x="0" y="0"/>
              <a:ext cx="1028700" cy="347473"/>
            </a:xfrm>
            <a:prstGeom prst="roundRect">
              <a:avLst>
                <a:gd name="adj" fmla="val 50000"/>
              </a:avLst>
            </a:prstGeom>
            <a:solidFill>
              <a:srgbClr val="1D293D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04" name="Java 25"/>
            <p:cNvSpPr txBox="1"/>
            <p:nvPr/>
          </p:nvSpPr>
          <p:spPr>
            <a:xfrm>
              <a:off x="215143" y="78486"/>
              <a:ext cx="598414" cy="190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200">
                  <a:solidFill>
                    <a:srgbClr val="E2E8F0"/>
                  </a:solidFill>
                  <a:latin typeface="Segoe UI"/>
                  <a:ea typeface="Segoe UI"/>
                  <a:cs typeface="Segoe UI"/>
                  <a:sym typeface="Segoe UI"/>
                </a:defRPr>
              </a:lvl1pPr>
            </a:lstStyle>
            <a:p>
              <a:r>
                <a:t>Java 25</a:t>
              </a:r>
            </a:p>
          </p:txBody>
        </p:sp>
      </p:grpSp>
      <p:grpSp>
        <p:nvGrpSpPr>
          <p:cNvPr id="108" name="Rounded Rectangle 9"/>
          <p:cNvGrpSpPr/>
          <p:nvPr/>
        </p:nvGrpSpPr>
        <p:grpSpPr>
          <a:xfrm>
            <a:off x="1833372" y="4572000"/>
            <a:ext cx="1869949" cy="347473"/>
            <a:chOff x="0" y="0"/>
            <a:chExt cx="1869948" cy="347472"/>
          </a:xfrm>
        </p:grpSpPr>
        <p:sp>
          <p:nvSpPr>
            <p:cNvPr id="106" name="Rounded Rectangle"/>
            <p:cNvSpPr/>
            <p:nvPr/>
          </p:nvSpPr>
          <p:spPr>
            <a:xfrm>
              <a:off x="0" y="0"/>
              <a:ext cx="1869949" cy="347473"/>
            </a:xfrm>
            <a:prstGeom prst="roundRect">
              <a:avLst>
                <a:gd name="adj" fmla="val 50000"/>
              </a:avLst>
            </a:prstGeom>
            <a:solidFill>
              <a:srgbClr val="1D293D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07" name="Spring Boot 4.1"/>
            <p:cNvSpPr txBox="1"/>
            <p:nvPr/>
          </p:nvSpPr>
          <p:spPr>
            <a:xfrm>
              <a:off x="326986" y="78486"/>
              <a:ext cx="1215976" cy="190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200">
                  <a:solidFill>
                    <a:srgbClr val="E2E8F0"/>
                  </a:solidFill>
                  <a:latin typeface="Segoe UI"/>
                  <a:ea typeface="Segoe UI"/>
                  <a:cs typeface="Segoe UI"/>
                  <a:sym typeface="Segoe UI"/>
                </a:defRPr>
              </a:lvl1pPr>
            </a:lstStyle>
            <a:p>
              <a:r>
                <a:t>Spring Boot 4.1</a:t>
              </a:r>
            </a:p>
          </p:txBody>
        </p:sp>
      </p:grpSp>
      <p:grpSp>
        <p:nvGrpSpPr>
          <p:cNvPr id="111" name="Rounded Rectangle 10"/>
          <p:cNvGrpSpPr/>
          <p:nvPr/>
        </p:nvGrpSpPr>
        <p:grpSpPr>
          <a:xfrm>
            <a:off x="3867911" y="4572000"/>
            <a:ext cx="1133857" cy="347473"/>
            <a:chOff x="0" y="0"/>
            <a:chExt cx="1133855" cy="347472"/>
          </a:xfrm>
        </p:grpSpPr>
        <p:sp>
          <p:nvSpPr>
            <p:cNvPr id="109" name="Rounded Rectangle"/>
            <p:cNvSpPr/>
            <p:nvPr/>
          </p:nvSpPr>
          <p:spPr>
            <a:xfrm>
              <a:off x="0" y="0"/>
              <a:ext cx="1133856" cy="347473"/>
            </a:xfrm>
            <a:prstGeom prst="roundRect">
              <a:avLst>
                <a:gd name="adj" fmla="val 50000"/>
              </a:avLst>
            </a:prstGeom>
            <a:solidFill>
              <a:srgbClr val="1D293D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10" name="React 19"/>
            <p:cNvSpPr txBox="1"/>
            <p:nvPr/>
          </p:nvSpPr>
          <p:spPr>
            <a:xfrm>
              <a:off x="224896" y="78486"/>
              <a:ext cx="684064" cy="190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200">
                  <a:solidFill>
                    <a:srgbClr val="E2E8F0"/>
                  </a:solidFill>
                  <a:latin typeface="Segoe UI"/>
                  <a:ea typeface="Segoe UI"/>
                  <a:cs typeface="Segoe UI"/>
                  <a:sym typeface="Segoe UI"/>
                </a:defRPr>
              </a:lvl1pPr>
            </a:lstStyle>
            <a:p>
              <a:r>
                <a:t>React 19</a:t>
              </a:r>
            </a:p>
          </p:txBody>
        </p:sp>
      </p:grpSp>
      <p:grpSp>
        <p:nvGrpSpPr>
          <p:cNvPr id="114" name="Rounded Rectangle 11"/>
          <p:cNvGrpSpPr/>
          <p:nvPr/>
        </p:nvGrpSpPr>
        <p:grpSpPr>
          <a:xfrm>
            <a:off x="5166359" y="4572000"/>
            <a:ext cx="1344169" cy="347473"/>
            <a:chOff x="0" y="0"/>
            <a:chExt cx="1344167" cy="347472"/>
          </a:xfrm>
        </p:grpSpPr>
        <p:sp>
          <p:nvSpPr>
            <p:cNvPr id="112" name="Rounded Rectangle"/>
            <p:cNvSpPr/>
            <p:nvPr/>
          </p:nvSpPr>
          <p:spPr>
            <a:xfrm>
              <a:off x="0" y="0"/>
              <a:ext cx="1344168" cy="347473"/>
            </a:xfrm>
            <a:prstGeom prst="roundRect">
              <a:avLst>
                <a:gd name="adj" fmla="val 50000"/>
              </a:avLst>
            </a:prstGeom>
            <a:solidFill>
              <a:srgbClr val="1D293D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13" name="TypeScript"/>
            <p:cNvSpPr txBox="1"/>
            <p:nvPr/>
          </p:nvSpPr>
          <p:spPr>
            <a:xfrm>
              <a:off x="265535" y="78486"/>
              <a:ext cx="813098" cy="190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200">
                  <a:solidFill>
                    <a:srgbClr val="E2E8F0"/>
                  </a:solidFill>
                  <a:latin typeface="Segoe UI"/>
                  <a:ea typeface="Segoe UI"/>
                  <a:cs typeface="Segoe UI"/>
                  <a:sym typeface="Segoe UI"/>
                </a:defRPr>
              </a:lvl1pPr>
            </a:lstStyle>
            <a:p>
              <a:r>
                <a:t>TypeScript</a:t>
              </a:r>
            </a:p>
          </p:txBody>
        </p:sp>
      </p:grpSp>
      <p:grpSp>
        <p:nvGrpSpPr>
          <p:cNvPr id="117" name="Rounded Rectangle 12"/>
          <p:cNvGrpSpPr/>
          <p:nvPr/>
        </p:nvGrpSpPr>
        <p:grpSpPr>
          <a:xfrm>
            <a:off x="6675119" y="4572000"/>
            <a:ext cx="1659637" cy="347473"/>
            <a:chOff x="0" y="0"/>
            <a:chExt cx="1659635" cy="347472"/>
          </a:xfrm>
        </p:grpSpPr>
        <p:sp>
          <p:nvSpPr>
            <p:cNvPr id="115" name="Rounded Rectangle"/>
            <p:cNvSpPr/>
            <p:nvPr/>
          </p:nvSpPr>
          <p:spPr>
            <a:xfrm>
              <a:off x="0" y="0"/>
              <a:ext cx="1659636" cy="347473"/>
            </a:xfrm>
            <a:prstGeom prst="roundRect">
              <a:avLst>
                <a:gd name="adj" fmla="val 50000"/>
              </a:avLst>
            </a:prstGeom>
            <a:solidFill>
              <a:srgbClr val="1D293D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16" name="PostgreSQL 18"/>
            <p:cNvSpPr txBox="1"/>
            <p:nvPr/>
          </p:nvSpPr>
          <p:spPr>
            <a:xfrm>
              <a:off x="259855" y="78486"/>
              <a:ext cx="1139925" cy="190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200">
                  <a:solidFill>
                    <a:srgbClr val="E2E8F0"/>
                  </a:solidFill>
                  <a:latin typeface="Segoe UI"/>
                  <a:ea typeface="Segoe UI"/>
                  <a:cs typeface="Segoe UI"/>
                  <a:sym typeface="Segoe UI"/>
                </a:defRPr>
              </a:lvl1pPr>
            </a:lstStyle>
            <a:p>
              <a:r>
                <a:t>PostgreSQL 18</a:t>
              </a:r>
            </a:p>
          </p:txBody>
        </p:sp>
      </p:grpSp>
      <p:grpSp>
        <p:nvGrpSpPr>
          <p:cNvPr id="120" name="Rounded Rectangle 13"/>
          <p:cNvGrpSpPr/>
          <p:nvPr/>
        </p:nvGrpSpPr>
        <p:grpSpPr>
          <a:xfrm>
            <a:off x="8499347" y="4572000"/>
            <a:ext cx="1869949" cy="347473"/>
            <a:chOff x="0" y="0"/>
            <a:chExt cx="1869948" cy="347472"/>
          </a:xfrm>
        </p:grpSpPr>
        <p:sp>
          <p:nvSpPr>
            <p:cNvPr id="118" name="Rounded Rectangle"/>
            <p:cNvSpPr/>
            <p:nvPr/>
          </p:nvSpPr>
          <p:spPr>
            <a:xfrm>
              <a:off x="0" y="0"/>
              <a:ext cx="1869949" cy="347473"/>
            </a:xfrm>
            <a:prstGeom prst="roundRect">
              <a:avLst>
                <a:gd name="adj" fmla="val 50000"/>
              </a:avLst>
            </a:prstGeom>
            <a:solidFill>
              <a:srgbClr val="1D293D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19" name="Tailwind CSS v4"/>
            <p:cNvSpPr txBox="1"/>
            <p:nvPr/>
          </p:nvSpPr>
          <p:spPr>
            <a:xfrm>
              <a:off x="320363" y="78486"/>
              <a:ext cx="1229222" cy="190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200">
                  <a:solidFill>
                    <a:srgbClr val="E2E8F0"/>
                  </a:solidFill>
                  <a:latin typeface="Segoe UI"/>
                  <a:ea typeface="Segoe UI"/>
                  <a:cs typeface="Segoe UI"/>
                  <a:sym typeface="Segoe UI"/>
                </a:defRPr>
              </a:lvl1pPr>
            </a:lstStyle>
            <a:p>
              <a:r>
                <a:t>Tailwind CSS v4</a:t>
              </a:r>
            </a:p>
          </p:txBody>
        </p:sp>
      </p:grpSp>
      <p:sp>
        <p:nvSpPr>
          <p:cNvPr id="121" name="TextBox 14"/>
          <p:cNvSpPr txBox="1"/>
          <p:nvPr/>
        </p:nvSpPr>
        <p:spPr>
          <a:xfrm>
            <a:off x="640080" y="5440679"/>
            <a:ext cx="11192132" cy="914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defRPr sz="1400">
                <a:solidFill>
                  <a:srgbClr val="CAD5E2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Trần Như Tuấn Anh — 25810073      </a:t>
            </a:r>
            <a:br/>
            <a:r>
              <a:t>Trương Công Bảo — 25810092</a:t>
            </a:r>
          </a:p>
          <a:p>
            <a:pPr>
              <a:lnSpc>
                <a:spcPct val="150000"/>
              </a:lnSpc>
              <a:defRPr sz="1400">
                <a:solidFill>
                  <a:srgbClr val="CAD5E2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Nguyễn Thị Kim Đông — 25610009</a:t>
            </a:r>
          </a:p>
        </p:txBody>
      </p:sp>
      <p:sp>
        <p:nvSpPr>
          <p:cNvPr id="122" name="TextBox 15"/>
          <p:cNvSpPr txBox="1"/>
          <p:nvPr/>
        </p:nvSpPr>
        <p:spPr>
          <a:xfrm>
            <a:off x="8351215" y="6035040"/>
            <a:ext cx="320040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300">
                <a:solidFill>
                  <a:srgbClr val="90A1B9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TP. Hồ Chí Minh · 07/2026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5" name="TextBox 2"/>
          <p:cNvSpPr txBox="1"/>
          <p:nvPr/>
        </p:nvSpPr>
        <p:spPr>
          <a:xfrm>
            <a:off x="548640" y="384047"/>
            <a:ext cx="1097280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300" b="1">
                <a:solidFill>
                  <a:srgbClr val="4F39F6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NỘI DUNG</a:t>
            </a:r>
          </a:p>
        </p:txBody>
      </p:sp>
      <p:sp>
        <p:nvSpPr>
          <p:cNvPr id="126" name="TextBox 3"/>
          <p:cNvSpPr txBox="1"/>
          <p:nvPr/>
        </p:nvSpPr>
        <p:spPr>
          <a:xfrm>
            <a:off x="548639" y="676655"/>
            <a:ext cx="11064242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3000" b="1">
                <a:solidFill>
                  <a:srgbClr val="0F172B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Nội dung trình bày</a:t>
            </a:r>
          </a:p>
        </p:txBody>
      </p:sp>
      <p:sp>
        <p:nvSpPr>
          <p:cNvPr id="127" name="Rounded Rectangle 4"/>
          <p:cNvSpPr/>
          <p:nvPr/>
        </p:nvSpPr>
        <p:spPr>
          <a:xfrm>
            <a:off x="576072" y="1389888"/>
            <a:ext cx="502920" cy="50801"/>
          </a:xfrm>
          <a:prstGeom prst="roundRect">
            <a:avLst>
              <a:gd name="adj" fmla="val 50000"/>
            </a:avLst>
          </a:prstGeom>
          <a:solidFill>
            <a:srgbClr val="4F39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8" name="Rounded Rectangle 5"/>
          <p:cNvSpPr/>
          <p:nvPr/>
        </p:nvSpPr>
        <p:spPr>
          <a:xfrm>
            <a:off x="640080" y="1783079"/>
            <a:ext cx="5394960" cy="96926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9" name="TextBox 6"/>
          <p:cNvSpPr txBox="1"/>
          <p:nvPr/>
        </p:nvSpPr>
        <p:spPr>
          <a:xfrm>
            <a:off x="914400" y="2020823"/>
            <a:ext cx="822961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2200" b="1">
                <a:solidFill>
                  <a:srgbClr val="4F39F6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01</a:t>
            </a:r>
          </a:p>
        </p:txBody>
      </p:sp>
      <p:sp>
        <p:nvSpPr>
          <p:cNvPr id="130" name="TextBox 7"/>
          <p:cNvSpPr txBox="1"/>
          <p:nvPr/>
        </p:nvSpPr>
        <p:spPr>
          <a:xfrm>
            <a:off x="1691639" y="1929383"/>
            <a:ext cx="4206242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600" b="1">
                <a:solidFill>
                  <a:srgbClr val="0F172B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Giới thiệu đề tài</a:t>
            </a:r>
          </a:p>
        </p:txBody>
      </p:sp>
      <p:sp>
        <p:nvSpPr>
          <p:cNvPr id="131" name="TextBox 8"/>
          <p:cNvSpPr txBox="1"/>
          <p:nvPr/>
        </p:nvSpPr>
        <p:spPr>
          <a:xfrm>
            <a:off x="1691639" y="2286000"/>
            <a:ext cx="4206242" cy="190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2748E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Bối cảnh, mục tiêu, phạm vi</a:t>
            </a:r>
          </a:p>
        </p:txBody>
      </p:sp>
      <p:sp>
        <p:nvSpPr>
          <p:cNvPr id="132" name="Rounded Rectangle 9"/>
          <p:cNvSpPr/>
          <p:nvPr/>
        </p:nvSpPr>
        <p:spPr>
          <a:xfrm>
            <a:off x="6309359" y="1783079"/>
            <a:ext cx="5394961" cy="96926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3" name="TextBox 10"/>
          <p:cNvSpPr txBox="1"/>
          <p:nvPr/>
        </p:nvSpPr>
        <p:spPr>
          <a:xfrm>
            <a:off x="6583680" y="2020823"/>
            <a:ext cx="822961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2200" b="1">
                <a:solidFill>
                  <a:srgbClr val="4F39F6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02</a:t>
            </a:r>
          </a:p>
        </p:txBody>
      </p:sp>
      <p:sp>
        <p:nvSpPr>
          <p:cNvPr id="134" name="TextBox 11"/>
          <p:cNvSpPr txBox="1"/>
          <p:nvPr/>
        </p:nvSpPr>
        <p:spPr>
          <a:xfrm>
            <a:off x="7360919" y="1929383"/>
            <a:ext cx="420624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600" b="1">
                <a:solidFill>
                  <a:srgbClr val="0F172B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Ngôn ngữ Java &amp; JVM</a:t>
            </a:r>
          </a:p>
        </p:txBody>
      </p:sp>
      <p:sp>
        <p:nvSpPr>
          <p:cNvPr id="135" name="TextBox 12"/>
          <p:cNvSpPr txBox="1"/>
          <p:nvPr/>
        </p:nvSpPr>
        <p:spPr>
          <a:xfrm>
            <a:off x="7360919" y="2286000"/>
            <a:ext cx="4206241" cy="190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2748E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WORA, JIT, GC, Java 8 → 25</a:t>
            </a:r>
          </a:p>
        </p:txBody>
      </p:sp>
      <p:sp>
        <p:nvSpPr>
          <p:cNvPr id="136" name="Rounded Rectangle 13"/>
          <p:cNvSpPr/>
          <p:nvPr/>
        </p:nvSpPr>
        <p:spPr>
          <a:xfrm>
            <a:off x="640080" y="2953511"/>
            <a:ext cx="5394960" cy="96926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7" name="TextBox 14"/>
          <p:cNvSpPr txBox="1"/>
          <p:nvPr/>
        </p:nvSpPr>
        <p:spPr>
          <a:xfrm>
            <a:off x="914400" y="3191255"/>
            <a:ext cx="822961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2200" b="1">
                <a:solidFill>
                  <a:srgbClr val="4F39F6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03</a:t>
            </a:r>
          </a:p>
        </p:txBody>
      </p:sp>
      <p:sp>
        <p:nvSpPr>
          <p:cNvPr id="138" name="TextBox 15"/>
          <p:cNvSpPr txBox="1"/>
          <p:nvPr/>
        </p:nvSpPr>
        <p:spPr>
          <a:xfrm>
            <a:off x="1691639" y="3099816"/>
            <a:ext cx="4206242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600" b="1">
                <a:solidFill>
                  <a:srgbClr val="0F172B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Mô hình lập trình Spring</a:t>
            </a:r>
          </a:p>
        </p:txBody>
      </p:sp>
      <p:sp>
        <p:nvSpPr>
          <p:cNvPr id="139" name="TextBox 16"/>
          <p:cNvSpPr txBox="1"/>
          <p:nvPr/>
        </p:nvSpPr>
        <p:spPr>
          <a:xfrm>
            <a:off x="1691639" y="3456432"/>
            <a:ext cx="4206242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2748E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IoC/DI, AOP, MVC, JPA, Security</a:t>
            </a:r>
          </a:p>
        </p:txBody>
      </p:sp>
      <p:sp>
        <p:nvSpPr>
          <p:cNvPr id="140" name="Rounded Rectangle 17"/>
          <p:cNvSpPr/>
          <p:nvPr/>
        </p:nvSpPr>
        <p:spPr>
          <a:xfrm>
            <a:off x="6309359" y="2953511"/>
            <a:ext cx="5394961" cy="96926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1" name="TextBox 18"/>
          <p:cNvSpPr txBox="1"/>
          <p:nvPr/>
        </p:nvSpPr>
        <p:spPr>
          <a:xfrm>
            <a:off x="6583680" y="3191255"/>
            <a:ext cx="822961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2200" b="1">
                <a:solidFill>
                  <a:srgbClr val="4F39F6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04</a:t>
            </a:r>
          </a:p>
        </p:txBody>
      </p:sp>
      <p:sp>
        <p:nvSpPr>
          <p:cNvPr id="142" name="TextBox 19"/>
          <p:cNvSpPr txBox="1"/>
          <p:nvPr/>
        </p:nvSpPr>
        <p:spPr>
          <a:xfrm>
            <a:off x="7360919" y="3099816"/>
            <a:ext cx="420624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600" b="1">
                <a:solidFill>
                  <a:srgbClr val="0F172B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Phân tích &amp; thiết kế</a:t>
            </a:r>
          </a:p>
        </p:txBody>
      </p:sp>
      <p:sp>
        <p:nvSpPr>
          <p:cNvPr id="143" name="TextBox 20"/>
          <p:cNvSpPr txBox="1"/>
          <p:nvPr/>
        </p:nvSpPr>
        <p:spPr>
          <a:xfrm>
            <a:off x="7360919" y="3456432"/>
            <a:ext cx="420624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2748E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Kiến trúc, CSDL, API, phân quyền</a:t>
            </a:r>
          </a:p>
        </p:txBody>
      </p:sp>
      <p:sp>
        <p:nvSpPr>
          <p:cNvPr id="144" name="Rounded Rectangle 21"/>
          <p:cNvSpPr/>
          <p:nvPr/>
        </p:nvSpPr>
        <p:spPr>
          <a:xfrm>
            <a:off x="640080" y="4123944"/>
            <a:ext cx="5394960" cy="96926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5" name="TextBox 22"/>
          <p:cNvSpPr txBox="1"/>
          <p:nvPr/>
        </p:nvSpPr>
        <p:spPr>
          <a:xfrm>
            <a:off x="914400" y="4361688"/>
            <a:ext cx="822961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2200" b="1">
                <a:solidFill>
                  <a:srgbClr val="4F39F6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05</a:t>
            </a:r>
          </a:p>
        </p:txBody>
      </p:sp>
      <p:sp>
        <p:nvSpPr>
          <p:cNvPr id="146" name="TextBox 23"/>
          <p:cNvSpPr txBox="1"/>
          <p:nvPr/>
        </p:nvSpPr>
        <p:spPr>
          <a:xfrm>
            <a:off x="1691639" y="4270247"/>
            <a:ext cx="4206242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600" b="1">
                <a:solidFill>
                  <a:srgbClr val="0F172B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Xây dựng backend</a:t>
            </a:r>
          </a:p>
        </p:txBody>
      </p:sp>
      <p:sp>
        <p:nvSpPr>
          <p:cNvPr id="147" name="TextBox 24"/>
          <p:cNvSpPr txBox="1"/>
          <p:nvPr/>
        </p:nvSpPr>
        <p:spPr>
          <a:xfrm>
            <a:off x="1691639" y="4626864"/>
            <a:ext cx="4206242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2748E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JWT, nghiệp vụ, Flyway</a:t>
            </a:r>
          </a:p>
        </p:txBody>
      </p:sp>
      <p:sp>
        <p:nvSpPr>
          <p:cNvPr id="148" name="Rounded Rectangle 25"/>
          <p:cNvSpPr/>
          <p:nvPr/>
        </p:nvSpPr>
        <p:spPr>
          <a:xfrm>
            <a:off x="6309359" y="4123944"/>
            <a:ext cx="5394961" cy="96926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9" name="TextBox 26"/>
          <p:cNvSpPr txBox="1"/>
          <p:nvPr/>
        </p:nvSpPr>
        <p:spPr>
          <a:xfrm>
            <a:off x="6583680" y="4361688"/>
            <a:ext cx="822961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2200" b="1">
                <a:solidFill>
                  <a:srgbClr val="4F39F6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06</a:t>
            </a:r>
          </a:p>
        </p:txBody>
      </p:sp>
      <p:sp>
        <p:nvSpPr>
          <p:cNvPr id="150" name="TextBox 27"/>
          <p:cNvSpPr txBox="1"/>
          <p:nvPr/>
        </p:nvSpPr>
        <p:spPr>
          <a:xfrm>
            <a:off x="7360919" y="4270247"/>
            <a:ext cx="420624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600" b="1">
                <a:solidFill>
                  <a:srgbClr val="0F172B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Xây dựng frontend</a:t>
            </a:r>
          </a:p>
        </p:txBody>
      </p:sp>
      <p:sp>
        <p:nvSpPr>
          <p:cNvPr id="151" name="TextBox 28"/>
          <p:cNvSpPr txBox="1"/>
          <p:nvPr/>
        </p:nvSpPr>
        <p:spPr>
          <a:xfrm>
            <a:off x="7360919" y="4626864"/>
            <a:ext cx="420624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2748E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SPA React, design system</a:t>
            </a:r>
          </a:p>
        </p:txBody>
      </p:sp>
      <p:sp>
        <p:nvSpPr>
          <p:cNvPr id="152" name="Rounded Rectangle 29"/>
          <p:cNvSpPr/>
          <p:nvPr/>
        </p:nvSpPr>
        <p:spPr>
          <a:xfrm>
            <a:off x="640080" y="5294376"/>
            <a:ext cx="5394960" cy="96926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53" name="TextBox 30"/>
          <p:cNvSpPr txBox="1"/>
          <p:nvPr/>
        </p:nvSpPr>
        <p:spPr>
          <a:xfrm>
            <a:off x="914400" y="5532120"/>
            <a:ext cx="822961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2200" b="1">
                <a:solidFill>
                  <a:srgbClr val="4F39F6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07</a:t>
            </a:r>
          </a:p>
        </p:txBody>
      </p:sp>
      <p:sp>
        <p:nvSpPr>
          <p:cNvPr id="154" name="TextBox 31"/>
          <p:cNvSpPr txBox="1"/>
          <p:nvPr/>
        </p:nvSpPr>
        <p:spPr>
          <a:xfrm>
            <a:off x="1691639" y="5440679"/>
            <a:ext cx="4206242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600" b="1">
                <a:solidFill>
                  <a:srgbClr val="0F172B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Demo sản phẩm</a:t>
            </a:r>
          </a:p>
        </p:txBody>
      </p:sp>
      <p:sp>
        <p:nvSpPr>
          <p:cNvPr id="155" name="TextBox 32"/>
          <p:cNvSpPr txBox="1"/>
          <p:nvPr/>
        </p:nvSpPr>
        <p:spPr>
          <a:xfrm>
            <a:off x="1691639" y="5797296"/>
            <a:ext cx="4206242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2748E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8 màn hình chính</a:t>
            </a:r>
          </a:p>
        </p:txBody>
      </p:sp>
      <p:sp>
        <p:nvSpPr>
          <p:cNvPr id="156" name="Rounded Rectangle 33"/>
          <p:cNvSpPr/>
          <p:nvPr/>
        </p:nvSpPr>
        <p:spPr>
          <a:xfrm>
            <a:off x="6309359" y="5294376"/>
            <a:ext cx="5394961" cy="96926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57" name="TextBox 34"/>
          <p:cNvSpPr txBox="1"/>
          <p:nvPr/>
        </p:nvSpPr>
        <p:spPr>
          <a:xfrm>
            <a:off x="6583680" y="5532120"/>
            <a:ext cx="822961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2200" b="1">
                <a:solidFill>
                  <a:srgbClr val="4F39F6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08</a:t>
            </a:r>
          </a:p>
        </p:txBody>
      </p:sp>
      <p:sp>
        <p:nvSpPr>
          <p:cNvPr id="158" name="TextBox 35"/>
          <p:cNvSpPr txBox="1"/>
          <p:nvPr/>
        </p:nvSpPr>
        <p:spPr>
          <a:xfrm>
            <a:off x="7360919" y="5440679"/>
            <a:ext cx="420624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600" b="1">
                <a:solidFill>
                  <a:srgbClr val="0F172B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Triển khai &amp; kết quả</a:t>
            </a:r>
          </a:p>
        </p:txBody>
      </p:sp>
      <p:sp>
        <p:nvSpPr>
          <p:cNvPr id="159" name="TextBox 36"/>
          <p:cNvSpPr txBox="1"/>
          <p:nvPr/>
        </p:nvSpPr>
        <p:spPr>
          <a:xfrm>
            <a:off x="7360919" y="5797296"/>
            <a:ext cx="420624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2748E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CI/CD, số liệu, hướng phát triển</a:t>
            </a:r>
          </a:p>
        </p:txBody>
      </p:sp>
      <p:sp>
        <p:nvSpPr>
          <p:cNvPr id="160" name="Rectangle 37"/>
          <p:cNvSpPr/>
          <p:nvPr/>
        </p:nvSpPr>
        <p:spPr>
          <a:xfrm>
            <a:off x="548639" y="6382511"/>
            <a:ext cx="11094417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61" name="TextBox 38"/>
          <p:cNvSpPr txBox="1"/>
          <p:nvPr/>
        </p:nvSpPr>
        <p:spPr>
          <a:xfrm>
            <a:off x="548640" y="6455664"/>
            <a:ext cx="54864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100" b="1">
                <a:solidFill>
                  <a:srgbClr val="4F39F6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LMS</a:t>
            </a:r>
            <a:r>
              <a:rPr sz="1000" b="0">
                <a:solidFill>
                  <a:srgbClr val="62748E"/>
                </a:solidFill>
              </a:rPr>
              <a:t>  ·  Đồ án Lập trình Web (Java)</a:t>
            </a:r>
          </a:p>
        </p:txBody>
      </p:sp>
      <p:sp>
        <p:nvSpPr>
          <p:cNvPr id="162" name="TextBox 39"/>
          <p:cNvSpPr txBox="1"/>
          <p:nvPr/>
        </p:nvSpPr>
        <p:spPr>
          <a:xfrm>
            <a:off x="8899855" y="6455664"/>
            <a:ext cx="27432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0A1B9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Nội dung   02 / 22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65" name="TextBox 2"/>
          <p:cNvSpPr txBox="1"/>
          <p:nvPr/>
        </p:nvSpPr>
        <p:spPr>
          <a:xfrm>
            <a:off x="548640" y="384047"/>
            <a:ext cx="1097280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300" b="1">
                <a:solidFill>
                  <a:srgbClr val="4F39F6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01 · GIỚI THIỆU</a:t>
            </a:r>
          </a:p>
        </p:txBody>
      </p:sp>
      <p:sp>
        <p:nvSpPr>
          <p:cNvPr id="166" name="TextBox 3"/>
          <p:cNvSpPr txBox="1"/>
          <p:nvPr/>
        </p:nvSpPr>
        <p:spPr>
          <a:xfrm>
            <a:off x="548639" y="676655"/>
            <a:ext cx="11064242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3000" b="1">
                <a:solidFill>
                  <a:srgbClr val="0F172B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Đề tài và mục tiêu</a:t>
            </a:r>
          </a:p>
        </p:txBody>
      </p:sp>
      <p:sp>
        <p:nvSpPr>
          <p:cNvPr id="167" name="Rounded Rectangle 4"/>
          <p:cNvSpPr/>
          <p:nvPr/>
        </p:nvSpPr>
        <p:spPr>
          <a:xfrm>
            <a:off x="576072" y="1389888"/>
            <a:ext cx="502920" cy="50801"/>
          </a:xfrm>
          <a:prstGeom prst="roundRect">
            <a:avLst>
              <a:gd name="adj" fmla="val 50000"/>
            </a:avLst>
          </a:prstGeom>
          <a:solidFill>
            <a:srgbClr val="4F39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68" name="Rounded Rectangle 5"/>
          <p:cNvSpPr/>
          <p:nvPr/>
        </p:nvSpPr>
        <p:spPr>
          <a:xfrm>
            <a:off x="640080" y="1737360"/>
            <a:ext cx="493776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69" name="TextBox 6"/>
          <p:cNvSpPr txBox="1"/>
          <p:nvPr/>
        </p:nvSpPr>
        <p:spPr>
          <a:xfrm>
            <a:off x="914400" y="1965960"/>
            <a:ext cx="438912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600" b="1">
                <a:solidFill>
                  <a:srgbClr val="0F172B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Đặt vấn đề</a:t>
            </a:r>
          </a:p>
        </p:txBody>
      </p:sp>
      <p:sp>
        <p:nvSpPr>
          <p:cNvPr id="170" name="TextBox 7"/>
          <p:cNvSpPr txBox="1"/>
          <p:nvPr/>
        </p:nvSpPr>
        <p:spPr>
          <a:xfrm>
            <a:off x="914400" y="2423160"/>
            <a:ext cx="4389121" cy="203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1200"/>
              </a:spcBef>
              <a:defRPr sz="1400" b="1">
                <a:solidFill>
                  <a:srgbClr val="4F39F6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•  </a:t>
            </a:r>
            <a:r>
              <a:rPr b="0">
                <a:solidFill>
                  <a:srgbClr val="45556C"/>
                </a:solidFill>
              </a:rPr>
              <a:t>Học trực tuyến (Udemy, Coursera…) là phương thức đào tạo phổ biến; hạt nhân là hệ thống LMS.</a:t>
            </a:r>
          </a:p>
          <a:p>
            <a:pPr>
              <a:spcBef>
                <a:spcPts val="1200"/>
              </a:spcBef>
              <a:defRPr sz="1400" b="1">
                <a:solidFill>
                  <a:srgbClr val="4F39F6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•  </a:t>
            </a:r>
            <a:r>
              <a:rPr b="0">
                <a:solidFill>
                  <a:srgbClr val="45556C"/>
                </a:solidFill>
              </a:rPr>
              <a:t>Bài toán LMS hội tụ đủ thành phần của một ứng dụng web hiện đại: REST API, CSDL quan hệ, xác thực nhiều vai trò, SPA, CI/CD.</a:t>
            </a:r>
          </a:p>
          <a:p>
            <a:pPr>
              <a:spcBef>
                <a:spcPts val="1200"/>
              </a:spcBef>
              <a:defRPr sz="1400" b="1">
                <a:solidFill>
                  <a:srgbClr val="4F39F6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•  </a:t>
            </a:r>
            <a:r>
              <a:rPr b="0">
                <a:solidFill>
                  <a:srgbClr val="45556C"/>
                </a:solidFill>
              </a:rPr>
              <a:t>Phù hợp để vận dụng tổng hợp Java + Spring của môn học.</a:t>
            </a:r>
          </a:p>
        </p:txBody>
      </p:sp>
      <p:sp>
        <p:nvSpPr>
          <p:cNvPr id="171" name="Rounded Rectangle 8"/>
          <p:cNvSpPr/>
          <p:nvPr/>
        </p:nvSpPr>
        <p:spPr>
          <a:xfrm>
            <a:off x="5943600" y="1737360"/>
            <a:ext cx="5623560" cy="93268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174" name="Rounded Rectangle 9"/>
          <p:cNvGrpSpPr/>
          <p:nvPr/>
        </p:nvGrpSpPr>
        <p:grpSpPr>
          <a:xfrm>
            <a:off x="6172200" y="2039111"/>
            <a:ext cx="329185" cy="329185"/>
            <a:chOff x="0" y="0"/>
            <a:chExt cx="329184" cy="329184"/>
          </a:xfrm>
        </p:grpSpPr>
        <p:sp>
          <p:nvSpPr>
            <p:cNvPr id="172" name="Circle"/>
            <p:cNvSpPr/>
            <p:nvPr/>
          </p:nvSpPr>
          <p:spPr>
            <a:xfrm>
              <a:off x="0" y="0"/>
              <a:ext cx="329185" cy="329185"/>
            </a:xfrm>
            <a:prstGeom prst="roundRect">
              <a:avLst>
                <a:gd name="adj" fmla="val 50000"/>
              </a:avLst>
            </a:prstGeom>
            <a:solidFill>
              <a:srgbClr val="E0E7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73" name="1"/>
            <p:cNvSpPr txBox="1"/>
            <p:nvPr/>
          </p:nvSpPr>
          <p:spPr>
            <a:xfrm>
              <a:off x="99554" y="62992"/>
              <a:ext cx="130076" cy="203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300" b="1">
                  <a:solidFill>
                    <a:srgbClr val="432DD7"/>
                  </a:solidFill>
                  <a:latin typeface="Segoe UI"/>
                  <a:ea typeface="Segoe UI"/>
                  <a:cs typeface="Segoe UI"/>
                  <a:sym typeface="Segoe UI"/>
                </a:defRPr>
              </a:lvl1pPr>
            </a:lstStyle>
            <a:p>
              <a:r>
                <a:t>1</a:t>
              </a:r>
            </a:p>
          </p:txBody>
        </p:sp>
      </p:grpSp>
      <p:sp>
        <p:nvSpPr>
          <p:cNvPr id="175" name="TextBox 10"/>
          <p:cNvSpPr txBox="1"/>
          <p:nvPr/>
        </p:nvSpPr>
        <p:spPr>
          <a:xfrm>
            <a:off x="6675119" y="1865376"/>
            <a:ext cx="475488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500" b="1">
                <a:solidFill>
                  <a:srgbClr val="0F172B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REST API hoàn chỉnh bằng Java</a:t>
            </a:r>
          </a:p>
        </p:txBody>
      </p:sp>
      <p:sp>
        <p:nvSpPr>
          <p:cNvPr id="176" name="TextBox 11"/>
          <p:cNvSpPr txBox="1"/>
          <p:nvPr/>
        </p:nvSpPr>
        <p:spPr>
          <a:xfrm>
            <a:off x="6675119" y="2212848"/>
            <a:ext cx="475488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2748E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Spring Boot 4.1 / Java 25 · JWT · Flyway · phân quyền 2 lớp</a:t>
            </a:r>
          </a:p>
        </p:txBody>
      </p:sp>
      <p:sp>
        <p:nvSpPr>
          <p:cNvPr id="177" name="Rounded Rectangle 12"/>
          <p:cNvSpPr/>
          <p:nvPr/>
        </p:nvSpPr>
        <p:spPr>
          <a:xfrm>
            <a:off x="5943600" y="2852927"/>
            <a:ext cx="5623560" cy="93269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180" name="Rounded Rectangle 13"/>
          <p:cNvGrpSpPr/>
          <p:nvPr/>
        </p:nvGrpSpPr>
        <p:grpSpPr>
          <a:xfrm>
            <a:off x="6172200" y="3154679"/>
            <a:ext cx="329185" cy="329185"/>
            <a:chOff x="0" y="0"/>
            <a:chExt cx="329184" cy="329184"/>
          </a:xfrm>
        </p:grpSpPr>
        <p:sp>
          <p:nvSpPr>
            <p:cNvPr id="178" name="Circle"/>
            <p:cNvSpPr/>
            <p:nvPr/>
          </p:nvSpPr>
          <p:spPr>
            <a:xfrm>
              <a:off x="0" y="0"/>
              <a:ext cx="329185" cy="329185"/>
            </a:xfrm>
            <a:prstGeom prst="roundRect">
              <a:avLst>
                <a:gd name="adj" fmla="val 50000"/>
              </a:avLst>
            </a:prstGeom>
            <a:solidFill>
              <a:srgbClr val="E0E7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79" name="2"/>
            <p:cNvSpPr txBox="1"/>
            <p:nvPr/>
          </p:nvSpPr>
          <p:spPr>
            <a:xfrm>
              <a:off x="99554" y="62992"/>
              <a:ext cx="130076" cy="203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300" b="1">
                  <a:solidFill>
                    <a:srgbClr val="432DD7"/>
                  </a:solidFill>
                  <a:latin typeface="Segoe UI"/>
                  <a:ea typeface="Segoe UI"/>
                  <a:cs typeface="Segoe UI"/>
                  <a:sym typeface="Segoe UI"/>
                </a:defRPr>
              </a:lvl1pPr>
            </a:lstStyle>
            <a:p>
              <a:r>
                <a:t>2</a:t>
              </a:r>
            </a:p>
          </p:txBody>
        </p:sp>
      </p:grpSp>
      <p:sp>
        <p:nvSpPr>
          <p:cNvPr id="181" name="TextBox 14"/>
          <p:cNvSpPr txBox="1"/>
          <p:nvPr/>
        </p:nvSpPr>
        <p:spPr>
          <a:xfrm>
            <a:off x="6675119" y="2980944"/>
            <a:ext cx="475488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500" b="1">
                <a:solidFill>
                  <a:srgbClr val="0F172B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SPA frontend tách rời</a:t>
            </a:r>
          </a:p>
        </p:txBody>
      </p:sp>
      <p:sp>
        <p:nvSpPr>
          <p:cNvPr id="182" name="TextBox 15"/>
          <p:cNvSpPr txBox="1"/>
          <p:nvPr/>
        </p:nvSpPr>
        <p:spPr>
          <a:xfrm>
            <a:off x="6675119" y="3328415"/>
            <a:ext cx="475488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2748E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React 19 + TypeScript · TanStack Query · Zustand · Tailwind v4</a:t>
            </a:r>
          </a:p>
        </p:txBody>
      </p:sp>
      <p:sp>
        <p:nvSpPr>
          <p:cNvPr id="183" name="Rounded Rectangle 16"/>
          <p:cNvSpPr/>
          <p:nvPr/>
        </p:nvSpPr>
        <p:spPr>
          <a:xfrm>
            <a:off x="5943600" y="3968496"/>
            <a:ext cx="5623560" cy="93268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186" name="Rounded Rectangle 17"/>
          <p:cNvGrpSpPr/>
          <p:nvPr/>
        </p:nvGrpSpPr>
        <p:grpSpPr>
          <a:xfrm>
            <a:off x="6172200" y="4270247"/>
            <a:ext cx="329185" cy="329185"/>
            <a:chOff x="0" y="0"/>
            <a:chExt cx="329184" cy="329184"/>
          </a:xfrm>
        </p:grpSpPr>
        <p:sp>
          <p:nvSpPr>
            <p:cNvPr id="184" name="Circle"/>
            <p:cNvSpPr/>
            <p:nvPr/>
          </p:nvSpPr>
          <p:spPr>
            <a:xfrm>
              <a:off x="0" y="0"/>
              <a:ext cx="329185" cy="329185"/>
            </a:xfrm>
            <a:prstGeom prst="roundRect">
              <a:avLst>
                <a:gd name="adj" fmla="val 50000"/>
              </a:avLst>
            </a:prstGeom>
            <a:solidFill>
              <a:srgbClr val="E0E7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85" name="3"/>
            <p:cNvSpPr txBox="1"/>
            <p:nvPr/>
          </p:nvSpPr>
          <p:spPr>
            <a:xfrm>
              <a:off x="99554" y="62992"/>
              <a:ext cx="130076" cy="203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300" b="1">
                  <a:solidFill>
                    <a:srgbClr val="432DD7"/>
                  </a:solidFill>
                  <a:latin typeface="Segoe UI"/>
                  <a:ea typeface="Segoe UI"/>
                  <a:cs typeface="Segoe UI"/>
                  <a:sym typeface="Segoe UI"/>
                </a:defRPr>
              </a:lvl1pPr>
            </a:lstStyle>
            <a:p>
              <a:r>
                <a:t>3</a:t>
              </a:r>
            </a:p>
          </p:txBody>
        </p:sp>
      </p:grpSp>
      <p:sp>
        <p:nvSpPr>
          <p:cNvPr id="187" name="TextBox 18"/>
          <p:cNvSpPr txBox="1"/>
          <p:nvPr/>
        </p:nvSpPr>
        <p:spPr>
          <a:xfrm>
            <a:off x="6675119" y="4096511"/>
            <a:ext cx="475488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500" b="1">
                <a:solidFill>
                  <a:srgbClr val="0F172B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Nghiệp vụ trọn vẹn 3 vai trò</a:t>
            </a:r>
          </a:p>
        </p:txBody>
      </p:sp>
      <p:sp>
        <p:nvSpPr>
          <p:cNvPr id="188" name="TextBox 19"/>
          <p:cNvSpPr txBox="1"/>
          <p:nvPr/>
        </p:nvSpPr>
        <p:spPr>
          <a:xfrm>
            <a:off x="6675119" y="4443984"/>
            <a:ext cx="475488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2748E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Học viên — Giảng viên — Quản trị viên (+ khách)</a:t>
            </a:r>
          </a:p>
        </p:txBody>
      </p:sp>
      <p:sp>
        <p:nvSpPr>
          <p:cNvPr id="189" name="Rounded Rectangle 20"/>
          <p:cNvSpPr/>
          <p:nvPr/>
        </p:nvSpPr>
        <p:spPr>
          <a:xfrm>
            <a:off x="5943600" y="5084064"/>
            <a:ext cx="5623560" cy="93268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192" name="Rounded Rectangle 21"/>
          <p:cNvGrpSpPr/>
          <p:nvPr/>
        </p:nvGrpSpPr>
        <p:grpSpPr>
          <a:xfrm>
            <a:off x="6172200" y="5385815"/>
            <a:ext cx="329185" cy="329185"/>
            <a:chOff x="0" y="0"/>
            <a:chExt cx="329184" cy="329184"/>
          </a:xfrm>
        </p:grpSpPr>
        <p:sp>
          <p:nvSpPr>
            <p:cNvPr id="190" name="Circle"/>
            <p:cNvSpPr/>
            <p:nvPr/>
          </p:nvSpPr>
          <p:spPr>
            <a:xfrm>
              <a:off x="0" y="0"/>
              <a:ext cx="329185" cy="329185"/>
            </a:xfrm>
            <a:prstGeom prst="roundRect">
              <a:avLst>
                <a:gd name="adj" fmla="val 50000"/>
              </a:avLst>
            </a:prstGeom>
            <a:solidFill>
              <a:srgbClr val="E0E7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91" name="4"/>
            <p:cNvSpPr txBox="1"/>
            <p:nvPr/>
          </p:nvSpPr>
          <p:spPr>
            <a:xfrm>
              <a:off x="99554" y="62992"/>
              <a:ext cx="130076" cy="203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300" b="1">
                  <a:solidFill>
                    <a:srgbClr val="432DD7"/>
                  </a:solidFill>
                  <a:latin typeface="Segoe UI"/>
                  <a:ea typeface="Segoe UI"/>
                  <a:cs typeface="Segoe UI"/>
                  <a:sym typeface="Segoe UI"/>
                </a:defRPr>
              </a:lvl1pPr>
            </a:lstStyle>
            <a:p>
              <a:r>
                <a:t>4</a:t>
              </a:r>
            </a:p>
          </p:txBody>
        </p:sp>
      </p:grpSp>
      <p:sp>
        <p:nvSpPr>
          <p:cNvPr id="193" name="TextBox 22"/>
          <p:cNvSpPr txBox="1"/>
          <p:nvPr/>
        </p:nvSpPr>
        <p:spPr>
          <a:xfrm>
            <a:off x="6675119" y="5212079"/>
            <a:ext cx="475488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500" b="1">
                <a:solidFill>
                  <a:srgbClr val="0F172B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Vận hành thực tế trên cloud</a:t>
            </a:r>
          </a:p>
        </p:txBody>
      </p:sp>
      <p:sp>
        <p:nvSpPr>
          <p:cNvPr id="194" name="TextBox 23"/>
          <p:cNvSpPr txBox="1"/>
          <p:nvPr/>
        </p:nvSpPr>
        <p:spPr>
          <a:xfrm>
            <a:off x="6675119" y="5559552"/>
            <a:ext cx="4754881" cy="190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2748E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GitHub Actions → Azure Web App + GitHub Pages</a:t>
            </a:r>
          </a:p>
        </p:txBody>
      </p:sp>
      <p:sp>
        <p:nvSpPr>
          <p:cNvPr id="195" name="Rectangle 24"/>
          <p:cNvSpPr/>
          <p:nvPr/>
        </p:nvSpPr>
        <p:spPr>
          <a:xfrm>
            <a:off x="548639" y="6382511"/>
            <a:ext cx="11094417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96" name="TextBox 25"/>
          <p:cNvSpPr txBox="1"/>
          <p:nvPr/>
        </p:nvSpPr>
        <p:spPr>
          <a:xfrm>
            <a:off x="548640" y="6455664"/>
            <a:ext cx="54864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100" b="1">
                <a:solidFill>
                  <a:srgbClr val="4F39F6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LMS</a:t>
            </a:r>
            <a:r>
              <a:rPr sz="1000" b="0">
                <a:solidFill>
                  <a:srgbClr val="62748E"/>
                </a:solidFill>
              </a:rPr>
              <a:t>  ·  Đồ án Lập trình Web (Java)</a:t>
            </a:r>
          </a:p>
        </p:txBody>
      </p:sp>
      <p:sp>
        <p:nvSpPr>
          <p:cNvPr id="197" name="TextBox 26"/>
          <p:cNvSpPr txBox="1"/>
          <p:nvPr/>
        </p:nvSpPr>
        <p:spPr>
          <a:xfrm>
            <a:off x="8899855" y="6455664"/>
            <a:ext cx="27432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0A1B9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Giới thiệu   03 / 22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00" name="TextBox 2"/>
          <p:cNvSpPr txBox="1"/>
          <p:nvPr/>
        </p:nvSpPr>
        <p:spPr>
          <a:xfrm>
            <a:off x="548640" y="384047"/>
            <a:ext cx="1097280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300" b="1">
                <a:solidFill>
                  <a:srgbClr val="4F39F6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01 · GIỚI THIỆU</a:t>
            </a:r>
          </a:p>
        </p:txBody>
      </p:sp>
      <p:sp>
        <p:nvSpPr>
          <p:cNvPr id="201" name="TextBox 3"/>
          <p:cNvSpPr txBox="1"/>
          <p:nvPr/>
        </p:nvSpPr>
        <p:spPr>
          <a:xfrm>
            <a:off x="548639" y="676655"/>
            <a:ext cx="11064242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3000" b="1">
                <a:solidFill>
                  <a:srgbClr val="0F172B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Công nghệ sử dụng</a:t>
            </a:r>
          </a:p>
        </p:txBody>
      </p:sp>
      <p:sp>
        <p:nvSpPr>
          <p:cNvPr id="202" name="Rounded Rectangle 4"/>
          <p:cNvSpPr/>
          <p:nvPr/>
        </p:nvSpPr>
        <p:spPr>
          <a:xfrm>
            <a:off x="576072" y="1389888"/>
            <a:ext cx="502920" cy="50801"/>
          </a:xfrm>
          <a:prstGeom prst="roundRect">
            <a:avLst>
              <a:gd name="adj" fmla="val 50000"/>
            </a:avLst>
          </a:prstGeom>
          <a:solidFill>
            <a:srgbClr val="4F39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03" name="Rounded Rectangle 5"/>
          <p:cNvSpPr/>
          <p:nvPr/>
        </p:nvSpPr>
        <p:spPr>
          <a:xfrm>
            <a:off x="640080" y="1737360"/>
            <a:ext cx="544068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04" name="TextBox 6"/>
          <p:cNvSpPr txBox="1"/>
          <p:nvPr/>
        </p:nvSpPr>
        <p:spPr>
          <a:xfrm>
            <a:off x="914400" y="1920239"/>
            <a:ext cx="484632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600" b="1">
                <a:solidFill>
                  <a:srgbClr val="432DD7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Backend — Java</a:t>
            </a:r>
          </a:p>
        </p:txBody>
      </p:sp>
      <p:sp>
        <p:nvSpPr>
          <p:cNvPr id="205" name="TextBox 7"/>
          <p:cNvSpPr txBox="1"/>
          <p:nvPr/>
        </p:nvSpPr>
        <p:spPr>
          <a:xfrm>
            <a:off x="914400" y="2395727"/>
            <a:ext cx="228600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300" b="1">
                <a:solidFill>
                  <a:srgbClr val="0F172B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Java</a:t>
            </a:r>
            <a:r>
              <a:rPr sz="1200" b="0">
                <a:solidFill>
                  <a:srgbClr val="90A1B9"/>
                </a:solidFill>
              </a:rPr>
              <a:t>  25 LTS</a:t>
            </a:r>
          </a:p>
        </p:txBody>
      </p:sp>
      <p:sp>
        <p:nvSpPr>
          <p:cNvPr id="206" name="TextBox 8"/>
          <p:cNvSpPr txBox="1"/>
          <p:nvPr/>
        </p:nvSpPr>
        <p:spPr>
          <a:xfrm>
            <a:off x="3493008" y="2395727"/>
            <a:ext cx="2496313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45556C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Ngôn ngữ + JVM (JIT, G1 GC)</a:t>
            </a:r>
          </a:p>
        </p:txBody>
      </p:sp>
      <p:sp>
        <p:nvSpPr>
          <p:cNvPr id="207" name="TextBox 9"/>
          <p:cNvSpPr txBox="1"/>
          <p:nvPr/>
        </p:nvSpPr>
        <p:spPr>
          <a:xfrm>
            <a:off x="914400" y="2798064"/>
            <a:ext cx="228600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300" b="1">
                <a:solidFill>
                  <a:srgbClr val="0F172B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Spring Boot</a:t>
            </a:r>
            <a:r>
              <a:rPr sz="1200" b="0">
                <a:solidFill>
                  <a:srgbClr val="90A1B9"/>
                </a:solidFill>
              </a:rPr>
              <a:t>  4.1.0</a:t>
            </a:r>
          </a:p>
        </p:txBody>
      </p:sp>
      <p:sp>
        <p:nvSpPr>
          <p:cNvPr id="208" name="TextBox 10"/>
          <p:cNvSpPr txBox="1"/>
          <p:nvPr/>
        </p:nvSpPr>
        <p:spPr>
          <a:xfrm>
            <a:off x="3493008" y="2798064"/>
            <a:ext cx="2496313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45556C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IoC/DI · MVC · Security</a:t>
            </a:r>
          </a:p>
        </p:txBody>
      </p:sp>
      <p:sp>
        <p:nvSpPr>
          <p:cNvPr id="209" name="TextBox 11"/>
          <p:cNvSpPr txBox="1"/>
          <p:nvPr/>
        </p:nvSpPr>
        <p:spPr>
          <a:xfrm>
            <a:off x="914400" y="3200400"/>
            <a:ext cx="2496312" cy="203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300" b="1">
                <a:solidFill>
                  <a:srgbClr val="0F172B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Spring Data JPA</a:t>
            </a:r>
            <a:r>
              <a:rPr sz="1200" b="0">
                <a:solidFill>
                  <a:srgbClr val="90A1B9"/>
                </a:solidFill>
              </a:rPr>
              <a:t>  Hibernate</a:t>
            </a:r>
          </a:p>
        </p:txBody>
      </p:sp>
      <p:sp>
        <p:nvSpPr>
          <p:cNvPr id="210" name="TextBox 12"/>
          <p:cNvSpPr txBox="1"/>
          <p:nvPr/>
        </p:nvSpPr>
        <p:spPr>
          <a:xfrm>
            <a:off x="3493008" y="3200400"/>
            <a:ext cx="2496313" cy="190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45556C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ORM trên PostgreSQL</a:t>
            </a:r>
          </a:p>
        </p:txBody>
      </p:sp>
      <p:sp>
        <p:nvSpPr>
          <p:cNvPr id="211" name="TextBox 13"/>
          <p:cNvSpPr txBox="1"/>
          <p:nvPr/>
        </p:nvSpPr>
        <p:spPr>
          <a:xfrm>
            <a:off x="914400" y="3602735"/>
            <a:ext cx="228600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300" b="1">
                <a:solidFill>
                  <a:srgbClr val="0F172B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Flyway</a:t>
            </a:r>
            <a:r>
              <a:rPr sz="1200" b="0">
                <a:solidFill>
                  <a:srgbClr val="90A1B9"/>
                </a:solidFill>
              </a:rPr>
              <a:t>  V1 → V5</a:t>
            </a:r>
          </a:p>
        </p:txBody>
      </p:sp>
      <p:sp>
        <p:nvSpPr>
          <p:cNvPr id="212" name="TextBox 14"/>
          <p:cNvSpPr txBox="1"/>
          <p:nvPr/>
        </p:nvSpPr>
        <p:spPr>
          <a:xfrm>
            <a:off x="3493008" y="3602735"/>
            <a:ext cx="2496313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45556C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Migration lược đồ CSDL</a:t>
            </a:r>
          </a:p>
        </p:txBody>
      </p:sp>
      <p:sp>
        <p:nvSpPr>
          <p:cNvPr id="213" name="TextBox 15"/>
          <p:cNvSpPr txBox="1"/>
          <p:nvPr/>
        </p:nvSpPr>
        <p:spPr>
          <a:xfrm>
            <a:off x="914400" y="4005071"/>
            <a:ext cx="228600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300" b="1">
                <a:solidFill>
                  <a:srgbClr val="0F172B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JJWT</a:t>
            </a:r>
            <a:r>
              <a:rPr sz="1200" b="0">
                <a:solidFill>
                  <a:srgbClr val="90A1B9"/>
                </a:solidFill>
              </a:rPr>
              <a:t>  0.12.5</a:t>
            </a:r>
          </a:p>
        </p:txBody>
      </p:sp>
      <p:sp>
        <p:nvSpPr>
          <p:cNvPr id="214" name="TextBox 16"/>
          <p:cNvSpPr txBox="1"/>
          <p:nvPr/>
        </p:nvSpPr>
        <p:spPr>
          <a:xfrm>
            <a:off x="3493008" y="4005071"/>
            <a:ext cx="2496313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45556C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JWT HS256, access + refresh</a:t>
            </a:r>
          </a:p>
        </p:txBody>
      </p:sp>
      <p:sp>
        <p:nvSpPr>
          <p:cNvPr id="215" name="TextBox 17"/>
          <p:cNvSpPr txBox="1"/>
          <p:nvPr/>
        </p:nvSpPr>
        <p:spPr>
          <a:xfrm>
            <a:off x="914400" y="4407408"/>
            <a:ext cx="228600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300" b="1">
                <a:solidFill>
                  <a:srgbClr val="0F172B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springdoc</a:t>
            </a:r>
            <a:r>
              <a:rPr sz="1200" b="0">
                <a:solidFill>
                  <a:srgbClr val="90A1B9"/>
                </a:solidFill>
              </a:rPr>
              <a:t>  2.5.0</a:t>
            </a:r>
          </a:p>
        </p:txBody>
      </p:sp>
      <p:sp>
        <p:nvSpPr>
          <p:cNvPr id="216" name="TextBox 18"/>
          <p:cNvSpPr txBox="1"/>
          <p:nvPr/>
        </p:nvSpPr>
        <p:spPr>
          <a:xfrm>
            <a:off x="3493008" y="4407408"/>
            <a:ext cx="2496313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45556C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OpenAPI / Swagger UI</a:t>
            </a:r>
          </a:p>
        </p:txBody>
      </p:sp>
      <p:sp>
        <p:nvSpPr>
          <p:cNvPr id="217" name="TextBox 19"/>
          <p:cNvSpPr txBox="1"/>
          <p:nvPr/>
        </p:nvSpPr>
        <p:spPr>
          <a:xfrm>
            <a:off x="914400" y="4809744"/>
            <a:ext cx="228600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300" b="1">
                <a:solidFill>
                  <a:srgbClr val="0F172B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Maven</a:t>
            </a:r>
            <a:r>
              <a:rPr sz="1200" b="0">
                <a:solidFill>
                  <a:srgbClr val="90A1B9"/>
                </a:solidFill>
              </a:rPr>
              <a:t>  3.9+</a:t>
            </a:r>
          </a:p>
        </p:txBody>
      </p:sp>
      <p:sp>
        <p:nvSpPr>
          <p:cNvPr id="218" name="TextBox 20"/>
          <p:cNvSpPr txBox="1"/>
          <p:nvPr/>
        </p:nvSpPr>
        <p:spPr>
          <a:xfrm>
            <a:off x="3493008" y="4809744"/>
            <a:ext cx="2496313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45556C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Build, BOM quản lý phiên bản</a:t>
            </a:r>
          </a:p>
        </p:txBody>
      </p:sp>
      <p:sp>
        <p:nvSpPr>
          <p:cNvPr id="219" name="Rounded Rectangle 21"/>
          <p:cNvSpPr/>
          <p:nvPr/>
        </p:nvSpPr>
        <p:spPr>
          <a:xfrm>
            <a:off x="6126479" y="1737360"/>
            <a:ext cx="5440681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20" name="TextBox 22"/>
          <p:cNvSpPr txBox="1"/>
          <p:nvPr/>
        </p:nvSpPr>
        <p:spPr>
          <a:xfrm>
            <a:off x="6400800" y="1920239"/>
            <a:ext cx="484632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600" b="1">
                <a:solidFill>
                  <a:srgbClr val="007A55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Frontend — TypeScript</a:t>
            </a:r>
          </a:p>
        </p:txBody>
      </p:sp>
      <p:sp>
        <p:nvSpPr>
          <p:cNvPr id="221" name="TextBox 23"/>
          <p:cNvSpPr txBox="1"/>
          <p:nvPr/>
        </p:nvSpPr>
        <p:spPr>
          <a:xfrm>
            <a:off x="6400800" y="2395727"/>
            <a:ext cx="228600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300" b="1">
                <a:solidFill>
                  <a:srgbClr val="0F172B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React</a:t>
            </a:r>
            <a:r>
              <a:rPr sz="1200" b="0">
                <a:solidFill>
                  <a:srgbClr val="90A1B9"/>
                </a:solidFill>
              </a:rPr>
              <a:t>  19.0.1</a:t>
            </a:r>
          </a:p>
        </p:txBody>
      </p:sp>
      <p:sp>
        <p:nvSpPr>
          <p:cNvPr id="222" name="TextBox 24"/>
          <p:cNvSpPr txBox="1"/>
          <p:nvPr/>
        </p:nvSpPr>
        <p:spPr>
          <a:xfrm>
            <a:off x="8778240" y="2395727"/>
            <a:ext cx="269748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45556C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UI theo component</a:t>
            </a:r>
          </a:p>
        </p:txBody>
      </p:sp>
      <p:sp>
        <p:nvSpPr>
          <p:cNvPr id="223" name="TextBox 25"/>
          <p:cNvSpPr txBox="1"/>
          <p:nvPr/>
        </p:nvSpPr>
        <p:spPr>
          <a:xfrm>
            <a:off x="6400800" y="2798064"/>
            <a:ext cx="228600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300" b="1">
                <a:solidFill>
                  <a:srgbClr val="0F172B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react-router</a:t>
            </a:r>
            <a:r>
              <a:rPr sz="1200" b="0">
                <a:solidFill>
                  <a:srgbClr val="90A1B9"/>
                </a:solidFill>
              </a:rPr>
              <a:t>  8.0.1</a:t>
            </a:r>
          </a:p>
        </p:txBody>
      </p:sp>
      <p:sp>
        <p:nvSpPr>
          <p:cNvPr id="224" name="TextBox 26"/>
          <p:cNvSpPr txBox="1"/>
          <p:nvPr/>
        </p:nvSpPr>
        <p:spPr>
          <a:xfrm>
            <a:off x="8778240" y="2798064"/>
            <a:ext cx="269748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45556C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HashRouter cho GitHub Pages</a:t>
            </a:r>
          </a:p>
        </p:txBody>
      </p:sp>
      <p:sp>
        <p:nvSpPr>
          <p:cNvPr id="225" name="TextBox 27"/>
          <p:cNvSpPr txBox="1"/>
          <p:nvPr/>
        </p:nvSpPr>
        <p:spPr>
          <a:xfrm>
            <a:off x="6400800" y="3200400"/>
            <a:ext cx="2286000" cy="203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300" b="1">
                <a:solidFill>
                  <a:srgbClr val="0F172B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TanStack Query</a:t>
            </a:r>
            <a:r>
              <a:rPr sz="1200" b="0">
                <a:solidFill>
                  <a:srgbClr val="90A1B9"/>
                </a:solidFill>
              </a:rPr>
              <a:t>  5.101</a:t>
            </a:r>
          </a:p>
        </p:txBody>
      </p:sp>
      <p:sp>
        <p:nvSpPr>
          <p:cNvPr id="226" name="TextBox 28"/>
          <p:cNvSpPr txBox="1"/>
          <p:nvPr/>
        </p:nvSpPr>
        <p:spPr>
          <a:xfrm>
            <a:off x="8778240" y="3200400"/>
            <a:ext cx="2697481" cy="190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45556C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Server state, cache/refetch</a:t>
            </a:r>
          </a:p>
        </p:txBody>
      </p:sp>
      <p:sp>
        <p:nvSpPr>
          <p:cNvPr id="227" name="TextBox 29"/>
          <p:cNvSpPr txBox="1"/>
          <p:nvPr/>
        </p:nvSpPr>
        <p:spPr>
          <a:xfrm>
            <a:off x="6400800" y="3602735"/>
            <a:ext cx="228600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300" b="1">
                <a:solidFill>
                  <a:srgbClr val="0F172B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Zustand</a:t>
            </a:r>
            <a:r>
              <a:rPr sz="1200" b="0">
                <a:solidFill>
                  <a:srgbClr val="90A1B9"/>
                </a:solidFill>
              </a:rPr>
              <a:t>  5.0.14</a:t>
            </a:r>
          </a:p>
        </p:txBody>
      </p:sp>
      <p:sp>
        <p:nvSpPr>
          <p:cNvPr id="228" name="TextBox 30"/>
          <p:cNvSpPr txBox="1"/>
          <p:nvPr/>
        </p:nvSpPr>
        <p:spPr>
          <a:xfrm>
            <a:off x="8778240" y="3602735"/>
            <a:ext cx="269748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45556C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Phiên đăng nhập</a:t>
            </a:r>
          </a:p>
        </p:txBody>
      </p:sp>
      <p:sp>
        <p:nvSpPr>
          <p:cNvPr id="229" name="TextBox 31"/>
          <p:cNvSpPr txBox="1"/>
          <p:nvPr/>
        </p:nvSpPr>
        <p:spPr>
          <a:xfrm>
            <a:off x="6400800" y="4005071"/>
            <a:ext cx="228600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300" b="1">
                <a:solidFill>
                  <a:srgbClr val="0F172B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axios</a:t>
            </a:r>
            <a:r>
              <a:rPr sz="1200" b="0">
                <a:solidFill>
                  <a:srgbClr val="90A1B9"/>
                </a:solidFill>
              </a:rPr>
              <a:t>  1.18</a:t>
            </a:r>
          </a:p>
        </p:txBody>
      </p:sp>
      <p:sp>
        <p:nvSpPr>
          <p:cNvPr id="230" name="TextBox 32"/>
          <p:cNvSpPr txBox="1"/>
          <p:nvPr/>
        </p:nvSpPr>
        <p:spPr>
          <a:xfrm>
            <a:off x="8778240" y="4005071"/>
            <a:ext cx="269748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45556C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Interceptor JWT + auto refresh</a:t>
            </a:r>
          </a:p>
        </p:txBody>
      </p:sp>
      <p:sp>
        <p:nvSpPr>
          <p:cNvPr id="231" name="TextBox 33"/>
          <p:cNvSpPr txBox="1"/>
          <p:nvPr/>
        </p:nvSpPr>
        <p:spPr>
          <a:xfrm>
            <a:off x="6400800" y="4407408"/>
            <a:ext cx="228600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300" b="1">
                <a:solidFill>
                  <a:srgbClr val="0F172B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Tailwind CSS</a:t>
            </a:r>
            <a:r>
              <a:rPr sz="1200" b="0">
                <a:solidFill>
                  <a:srgbClr val="90A1B9"/>
                </a:solidFill>
              </a:rPr>
              <a:t>  v4</a:t>
            </a:r>
          </a:p>
        </p:txBody>
      </p:sp>
      <p:sp>
        <p:nvSpPr>
          <p:cNvPr id="232" name="TextBox 34"/>
          <p:cNvSpPr txBox="1"/>
          <p:nvPr/>
        </p:nvSpPr>
        <p:spPr>
          <a:xfrm>
            <a:off x="8778240" y="4407408"/>
            <a:ext cx="269748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45556C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Design token CSS-first</a:t>
            </a:r>
          </a:p>
        </p:txBody>
      </p:sp>
      <p:sp>
        <p:nvSpPr>
          <p:cNvPr id="233" name="TextBox 35"/>
          <p:cNvSpPr txBox="1"/>
          <p:nvPr/>
        </p:nvSpPr>
        <p:spPr>
          <a:xfrm>
            <a:off x="6400800" y="4809744"/>
            <a:ext cx="228600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300" b="1">
                <a:solidFill>
                  <a:srgbClr val="0F172B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Vite + esbuild</a:t>
            </a:r>
            <a:r>
              <a:rPr sz="1200" b="0">
                <a:solidFill>
                  <a:srgbClr val="90A1B9"/>
                </a:solidFill>
              </a:rPr>
              <a:t>  6.2</a:t>
            </a:r>
          </a:p>
        </p:txBody>
      </p:sp>
      <p:sp>
        <p:nvSpPr>
          <p:cNvPr id="234" name="TextBox 36"/>
          <p:cNvSpPr txBox="1"/>
          <p:nvPr/>
        </p:nvSpPr>
        <p:spPr>
          <a:xfrm>
            <a:off x="8778240" y="4809744"/>
            <a:ext cx="269748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45556C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Dev server + bundle</a:t>
            </a:r>
          </a:p>
        </p:txBody>
      </p:sp>
      <p:grpSp>
        <p:nvGrpSpPr>
          <p:cNvPr id="237" name="Rounded Rectangle 37"/>
          <p:cNvGrpSpPr/>
          <p:nvPr/>
        </p:nvGrpSpPr>
        <p:grpSpPr>
          <a:xfrm>
            <a:off x="640080" y="5577840"/>
            <a:ext cx="2496312" cy="384049"/>
            <a:chOff x="0" y="0"/>
            <a:chExt cx="2496311" cy="384047"/>
          </a:xfrm>
        </p:grpSpPr>
        <p:sp>
          <p:nvSpPr>
            <p:cNvPr id="235" name="Rounded Rectangle"/>
            <p:cNvSpPr/>
            <p:nvPr/>
          </p:nvSpPr>
          <p:spPr>
            <a:xfrm>
              <a:off x="0" y="0"/>
              <a:ext cx="2496312" cy="384048"/>
            </a:xfrm>
            <a:prstGeom prst="roundRect">
              <a:avLst>
                <a:gd name="adj" fmla="val 50000"/>
              </a:avLst>
            </a:prstGeom>
            <a:solidFill>
              <a:srgbClr val="0F172B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36" name="PostgreSQL 18 (Docker)"/>
            <p:cNvSpPr txBox="1"/>
            <p:nvPr/>
          </p:nvSpPr>
          <p:spPr>
            <a:xfrm>
              <a:off x="315276" y="96773"/>
              <a:ext cx="1865760" cy="190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200">
                  <a:solidFill>
                    <a:srgbClr val="E2E8F0"/>
                  </a:solidFill>
                  <a:latin typeface="Segoe UI"/>
                  <a:ea typeface="Segoe UI"/>
                  <a:cs typeface="Segoe UI"/>
                  <a:sym typeface="Segoe UI"/>
                </a:defRPr>
              </a:lvl1pPr>
            </a:lstStyle>
            <a:p>
              <a:r>
                <a:t>PostgreSQL 18 (Docker)</a:t>
              </a:r>
            </a:p>
          </p:txBody>
        </p:sp>
      </p:grpSp>
      <p:grpSp>
        <p:nvGrpSpPr>
          <p:cNvPr id="240" name="Rounded Rectangle 38"/>
          <p:cNvGrpSpPr/>
          <p:nvPr/>
        </p:nvGrpSpPr>
        <p:grpSpPr>
          <a:xfrm>
            <a:off x="3337559" y="5577840"/>
            <a:ext cx="1728217" cy="384049"/>
            <a:chOff x="0" y="0"/>
            <a:chExt cx="1728216" cy="384047"/>
          </a:xfrm>
        </p:grpSpPr>
        <p:sp>
          <p:nvSpPr>
            <p:cNvPr id="238" name="Rounded Rectangle"/>
            <p:cNvSpPr/>
            <p:nvPr/>
          </p:nvSpPr>
          <p:spPr>
            <a:xfrm>
              <a:off x="0" y="0"/>
              <a:ext cx="1728217" cy="384048"/>
            </a:xfrm>
            <a:prstGeom prst="roundRect">
              <a:avLst>
                <a:gd name="adj" fmla="val 50000"/>
              </a:avLst>
            </a:prstGeom>
            <a:solidFill>
              <a:srgbClr val="0F172B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39" name="GitHub Actions"/>
            <p:cNvSpPr txBox="1"/>
            <p:nvPr/>
          </p:nvSpPr>
          <p:spPr>
            <a:xfrm>
              <a:off x="291094" y="96773"/>
              <a:ext cx="1146028" cy="190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200">
                  <a:solidFill>
                    <a:srgbClr val="E2E8F0"/>
                  </a:solidFill>
                  <a:latin typeface="Segoe UI"/>
                  <a:ea typeface="Segoe UI"/>
                  <a:cs typeface="Segoe UI"/>
                  <a:sym typeface="Segoe UI"/>
                </a:defRPr>
              </a:lvl1pPr>
            </a:lstStyle>
            <a:p>
              <a:r>
                <a:t>GitHub Actions</a:t>
              </a:r>
            </a:p>
          </p:txBody>
        </p:sp>
      </p:grpSp>
      <p:grpSp>
        <p:nvGrpSpPr>
          <p:cNvPr id="243" name="Rounded Rectangle 39"/>
          <p:cNvGrpSpPr/>
          <p:nvPr/>
        </p:nvGrpSpPr>
        <p:grpSpPr>
          <a:xfrm>
            <a:off x="5266944" y="5577840"/>
            <a:ext cx="1632205" cy="384049"/>
            <a:chOff x="0" y="0"/>
            <a:chExt cx="1632204" cy="384047"/>
          </a:xfrm>
        </p:grpSpPr>
        <p:sp>
          <p:nvSpPr>
            <p:cNvPr id="241" name="Rounded Rectangle"/>
            <p:cNvSpPr/>
            <p:nvPr/>
          </p:nvSpPr>
          <p:spPr>
            <a:xfrm>
              <a:off x="0" y="0"/>
              <a:ext cx="1632205" cy="384048"/>
            </a:xfrm>
            <a:prstGeom prst="roundRect">
              <a:avLst>
                <a:gd name="adj" fmla="val 50000"/>
              </a:avLst>
            </a:prstGeom>
            <a:solidFill>
              <a:srgbClr val="0F172B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42" name="Azure Web App"/>
            <p:cNvSpPr txBox="1"/>
            <p:nvPr/>
          </p:nvSpPr>
          <p:spPr>
            <a:xfrm>
              <a:off x="226382" y="96773"/>
              <a:ext cx="1179440" cy="190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200">
                  <a:solidFill>
                    <a:srgbClr val="E2E8F0"/>
                  </a:solidFill>
                  <a:latin typeface="Segoe UI"/>
                  <a:ea typeface="Segoe UI"/>
                  <a:cs typeface="Segoe UI"/>
                  <a:sym typeface="Segoe UI"/>
                </a:defRPr>
              </a:lvl1pPr>
            </a:lstStyle>
            <a:p>
              <a:r>
                <a:t>Azure Web App</a:t>
              </a:r>
            </a:p>
          </p:txBody>
        </p:sp>
      </p:grpSp>
      <p:grpSp>
        <p:nvGrpSpPr>
          <p:cNvPr id="246" name="Rounded Rectangle 40"/>
          <p:cNvGrpSpPr/>
          <p:nvPr/>
        </p:nvGrpSpPr>
        <p:grpSpPr>
          <a:xfrm>
            <a:off x="7100316" y="5577840"/>
            <a:ext cx="1536193" cy="384049"/>
            <a:chOff x="0" y="0"/>
            <a:chExt cx="1536191" cy="384047"/>
          </a:xfrm>
        </p:grpSpPr>
        <p:sp>
          <p:nvSpPr>
            <p:cNvPr id="244" name="Rounded Rectangle"/>
            <p:cNvSpPr/>
            <p:nvPr/>
          </p:nvSpPr>
          <p:spPr>
            <a:xfrm>
              <a:off x="0" y="0"/>
              <a:ext cx="1536192" cy="384048"/>
            </a:xfrm>
            <a:prstGeom prst="roundRect">
              <a:avLst>
                <a:gd name="adj" fmla="val 50000"/>
              </a:avLst>
            </a:prstGeom>
            <a:solidFill>
              <a:srgbClr val="0F172B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45" name="GitHub Pages"/>
            <p:cNvSpPr txBox="1"/>
            <p:nvPr/>
          </p:nvSpPr>
          <p:spPr>
            <a:xfrm>
              <a:off x="249554" y="96773"/>
              <a:ext cx="1037085" cy="190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200">
                  <a:solidFill>
                    <a:srgbClr val="E2E8F0"/>
                  </a:solidFill>
                  <a:latin typeface="Segoe UI"/>
                  <a:ea typeface="Segoe UI"/>
                  <a:cs typeface="Segoe UI"/>
                  <a:sym typeface="Segoe UI"/>
                </a:defRPr>
              </a:lvl1pPr>
            </a:lstStyle>
            <a:p>
              <a:r>
                <a:t>GitHub Pages</a:t>
              </a:r>
            </a:p>
          </p:txBody>
        </p:sp>
      </p:grpSp>
      <p:grpSp>
        <p:nvGrpSpPr>
          <p:cNvPr id="249" name="Rounded Rectangle 41"/>
          <p:cNvGrpSpPr/>
          <p:nvPr/>
        </p:nvGrpSpPr>
        <p:grpSpPr>
          <a:xfrm>
            <a:off x="8837676" y="5577840"/>
            <a:ext cx="2496313" cy="384049"/>
            <a:chOff x="0" y="0"/>
            <a:chExt cx="2496311" cy="384047"/>
          </a:xfrm>
        </p:grpSpPr>
        <p:sp>
          <p:nvSpPr>
            <p:cNvPr id="247" name="Rounded Rectangle"/>
            <p:cNvSpPr/>
            <p:nvPr/>
          </p:nvSpPr>
          <p:spPr>
            <a:xfrm>
              <a:off x="0" y="0"/>
              <a:ext cx="2496312" cy="384048"/>
            </a:xfrm>
            <a:prstGeom prst="roundRect">
              <a:avLst>
                <a:gd name="adj" fmla="val 50000"/>
              </a:avLst>
            </a:prstGeom>
            <a:solidFill>
              <a:srgbClr val="0F172B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48" name="Express mock API (dev)"/>
            <p:cNvSpPr txBox="1"/>
            <p:nvPr/>
          </p:nvSpPr>
          <p:spPr>
            <a:xfrm>
              <a:off x="320931" y="96773"/>
              <a:ext cx="1854450" cy="190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200">
                  <a:solidFill>
                    <a:srgbClr val="E2E8F0"/>
                  </a:solidFill>
                  <a:latin typeface="Segoe UI"/>
                  <a:ea typeface="Segoe UI"/>
                  <a:cs typeface="Segoe UI"/>
                  <a:sym typeface="Segoe UI"/>
                </a:defRPr>
              </a:lvl1pPr>
            </a:lstStyle>
            <a:p>
              <a:r>
                <a:t>Express mock API (dev)</a:t>
              </a:r>
            </a:p>
          </p:txBody>
        </p:sp>
      </p:grpSp>
      <p:sp>
        <p:nvSpPr>
          <p:cNvPr id="250" name="Rectangle 42"/>
          <p:cNvSpPr/>
          <p:nvPr/>
        </p:nvSpPr>
        <p:spPr>
          <a:xfrm>
            <a:off x="548639" y="6382511"/>
            <a:ext cx="11094417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51" name="TextBox 43"/>
          <p:cNvSpPr txBox="1"/>
          <p:nvPr/>
        </p:nvSpPr>
        <p:spPr>
          <a:xfrm>
            <a:off x="548640" y="6455664"/>
            <a:ext cx="54864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100" b="1">
                <a:solidFill>
                  <a:srgbClr val="4F39F6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LMS</a:t>
            </a:r>
            <a:r>
              <a:rPr sz="1000" b="0">
                <a:solidFill>
                  <a:srgbClr val="62748E"/>
                </a:solidFill>
              </a:rPr>
              <a:t>  ·  Đồ án Lập trình Web (Java)</a:t>
            </a:r>
          </a:p>
        </p:txBody>
      </p:sp>
      <p:sp>
        <p:nvSpPr>
          <p:cNvPr id="252" name="TextBox 44"/>
          <p:cNvSpPr txBox="1"/>
          <p:nvPr/>
        </p:nvSpPr>
        <p:spPr>
          <a:xfrm>
            <a:off x="8899855" y="6455664"/>
            <a:ext cx="27432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0A1B9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Công nghệ   04 / 22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55" name="TextBox 2"/>
          <p:cNvSpPr txBox="1"/>
          <p:nvPr/>
        </p:nvSpPr>
        <p:spPr>
          <a:xfrm>
            <a:off x="548640" y="384047"/>
            <a:ext cx="1097280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300" b="1">
                <a:solidFill>
                  <a:srgbClr val="4F39F6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02 · NGÔN NGỮ JAVA</a:t>
            </a:r>
          </a:p>
        </p:txBody>
      </p:sp>
      <p:sp>
        <p:nvSpPr>
          <p:cNvPr id="256" name="TextBox 3"/>
          <p:cNvSpPr txBox="1"/>
          <p:nvPr/>
        </p:nvSpPr>
        <p:spPr>
          <a:xfrm>
            <a:off x="548639" y="676655"/>
            <a:ext cx="11064242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3000" b="1">
                <a:solidFill>
                  <a:srgbClr val="0F172B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Java và máy ảo JVM</a:t>
            </a:r>
          </a:p>
        </p:txBody>
      </p:sp>
      <p:sp>
        <p:nvSpPr>
          <p:cNvPr id="257" name="Rounded Rectangle 4"/>
          <p:cNvSpPr/>
          <p:nvPr/>
        </p:nvSpPr>
        <p:spPr>
          <a:xfrm>
            <a:off x="576072" y="1389888"/>
            <a:ext cx="502920" cy="50801"/>
          </a:xfrm>
          <a:prstGeom prst="roundRect">
            <a:avLst>
              <a:gd name="adj" fmla="val 50000"/>
            </a:avLst>
          </a:prstGeom>
          <a:solidFill>
            <a:srgbClr val="4F39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58" name="TextBox 5"/>
          <p:cNvSpPr txBox="1"/>
          <p:nvPr/>
        </p:nvSpPr>
        <p:spPr>
          <a:xfrm>
            <a:off x="640080" y="1645920"/>
            <a:ext cx="5486401" cy="330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1400"/>
              </a:spcBef>
              <a:defRPr sz="1400" b="1">
                <a:solidFill>
                  <a:srgbClr val="4F39F6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•  </a:t>
            </a:r>
            <a:r>
              <a:rPr>
                <a:solidFill>
                  <a:srgbClr val="0F172B"/>
                </a:solidFill>
              </a:rPr>
              <a:t>WORA — Write Once, Run Anywhere: </a:t>
            </a:r>
            <a:r>
              <a:rPr b="0">
                <a:solidFill>
                  <a:srgbClr val="45556C"/>
                </a:solidFill>
              </a:rPr>
              <a:t>biên dịch ra bytecode, chạy trên JVM — dev trên Windows, deploy Linux/Azure không đổi một dòng mã.</a:t>
            </a:r>
          </a:p>
          <a:p>
            <a:pPr>
              <a:spcBef>
                <a:spcPts val="1400"/>
              </a:spcBef>
              <a:defRPr sz="1400" b="1">
                <a:solidFill>
                  <a:srgbClr val="4F39F6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•  </a:t>
            </a:r>
            <a:r>
              <a:rPr>
                <a:solidFill>
                  <a:srgbClr val="0F172B"/>
                </a:solidFill>
              </a:rPr>
              <a:t>JIT hai tầng (C1/C2): </a:t>
            </a:r>
            <a:r>
              <a:rPr b="0">
                <a:solidFill>
                  <a:srgbClr val="45556C"/>
                </a:solidFill>
              </a:rPr>
              <a:t>mã “nóng” được biên dịch thành mã máy theo thống kê thực tế — hiệu năng tiệm cận mã gốc cho server chạy dài hạn.</a:t>
            </a:r>
          </a:p>
          <a:p>
            <a:pPr>
              <a:spcBef>
                <a:spcPts val="1400"/>
              </a:spcBef>
              <a:defRPr sz="1400" b="1">
                <a:solidFill>
                  <a:srgbClr val="4F39F6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•  </a:t>
            </a:r>
            <a:r>
              <a:rPr>
                <a:solidFill>
                  <a:srgbClr val="0F172B"/>
                </a:solidFill>
              </a:rPr>
              <a:t>Garbage Collector (G1): </a:t>
            </a:r>
            <a:r>
              <a:rPr b="0">
                <a:solidFill>
                  <a:srgbClr val="45556C"/>
                </a:solidFill>
              </a:rPr>
              <a:t>quản lý bộ nhớ tự động, pause ngắn — mã nghiệp vụ không lo vòng đời đối tượng.</a:t>
            </a:r>
          </a:p>
          <a:p>
            <a:pPr>
              <a:spcBef>
                <a:spcPts val="1400"/>
              </a:spcBef>
              <a:defRPr sz="1400" b="1">
                <a:solidFill>
                  <a:srgbClr val="4F39F6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•  </a:t>
            </a:r>
            <a:r>
              <a:rPr>
                <a:solidFill>
                  <a:srgbClr val="0F172B"/>
                </a:solidFill>
              </a:rPr>
              <a:t>Định kiểu tĩnh + generics: </a:t>
            </a:r>
            <a:r>
              <a:rPr b="0">
                <a:solidFill>
                  <a:srgbClr val="45556C"/>
                </a:solidFill>
              </a:rPr>
              <a:t>Page&lt;CourseDto&gt;, Optional&lt;User&gt; — bắt lỗi lúc biên dịch, tái cấu trúc an toàn.</a:t>
            </a:r>
          </a:p>
          <a:p>
            <a:pPr>
              <a:spcBef>
                <a:spcPts val="1400"/>
              </a:spcBef>
              <a:defRPr sz="1400" b="1">
                <a:solidFill>
                  <a:srgbClr val="4F39F6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•  </a:t>
            </a:r>
            <a:r>
              <a:rPr>
                <a:solidFill>
                  <a:srgbClr val="0F172B"/>
                </a:solidFill>
              </a:rPr>
              <a:t>Java 25 LTS (9/2025): </a:t>
            </a:r>
            <a:r>
              <a:rPr b="0">
                <a:solidFill>
                  <a:srgbClr val="45556C"/>
                </a:solidFill>
              </a:rPr>
              <a:t>bản hỗ trợ dài hạn mới nhất — dùng cho toàn bộ backend.</a:t>
            </a:r>
          </a:p>
        </p:txBody>
      </p:sp>
      <p:sp>
        <p:nvSpPr>
          <p:cNvPr id="259" name="Rounded Rectangle 6"/>
          <p:cNvSpPr/>
          <p:nvPr/>
        </p:nvSpPr>
        <p:spPr>
          <a:xfrm>
            <a:off x="6355079" y="1691639"/>
            <a:ext cx="5257801" cy="228600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260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492240" y="1965960"/>
            <a:ext cx="4983481" cy="1863389"/>
          </a:xfrm>
          <a:prstGeom prst="rect">
            <a:avLst/>
          </a:prstGeom>
          <a:ln w="12700">
            <a:miter lim="400000"/>
          </a:ln>
        </p:spPr>
      </p:pic>
      <p:sp>
        <p:nvSpPr>
          <p:cNvPr id="261" name="TextBox 8"/>
          <p:cNvSpPr txBox="1"/>
          <p:nvPr/>
        </p:nvSpPr>
        <p:spPr>
          <a:xfrm>
            <a:off x="6355079" y="4114800"/>
            <a:ext cx="5257801" cy="190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2748E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Pipeline: .java → bytecode → JVM (JIT + GC) → mọi HĐH</a:t>
            </a:r>
          </a:p>
        </p:txBody>
      </p:sp>
      <p:sp>
        <p:nvSpPr>
          <p:cNvPr id="262" name="Rounded Rectangle 9"/>
          <p:cNvSpPr/>
          <p:nvPr/>
        </p:nvSpPr>
        <p:spPr>
          <a:xfrm>
            <a:off x="6355079" y="4617720"/>
            <a:ext cx="5257801" cy="1417321"/>
          </a:xfrm>
          <a:prstGeom prst="roundRect">
            <a:avLst>
              <a:gd name="adj" fmla="val 8000"/>
            </a:avLst>
          </a:prstGeom>
          <a:solidFill>
            <a:srgbClr val="EEF2FF"/>
          </a:solidFill>
          <a:ln w="12700">
            <a:solidFill>
              <a:srgbClr val="C6D2FF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63" name="TextBox 10"/>
          <p:cNvSpPr txBox="1"/>
          <p:nvPr/>
        </p:nvSpPr>
        <p:spPr>
          <a:xfrm>
            <a:off x="6629400" y="4800600"/>
            <a:ext cx="4754880" cy="882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400"/>
              </a:spcBef>
              <a:defRPr sz="1300" b="1">
                <a:solidFill>
                  <a:srgbClr val="432DD7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Thread-per-request trên Tomcat nhúng</a:t>
            </a:r>
          </a:p>
          <a:p>
            <a:pPr>
              <a:lnSpc>
                <a:spcPct val="115000"/>
              </a:lnSpc>
              <a:defRPr sz="1200">
                <a:solidFill>
                  <a:srgbClr val="45556C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Mỗi request một luồng — mã tuần tự dễ đọc; sẵn sàng bật virtual threads (Java 21+) để mở rộng hàng trăm nghìn kết nối.</a:t>
            </a:r>
          </a:p>
        </p:txBody>
      </p:sp>
      <p:sp>
        <p:nvSpPr>
          <p:cNvPr id="264" name="Rectangle 11"/>
          <p:cNvSpPr/>
          <p:nvPr/>
        </p:nvSpPr>
        <p:spPr>
          <a:xfrm>
            <a:off x="548639" y="6382511"/>
            <a:ext cx="11094417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65" name="TextBox 12"/>
          <p:cNvSpPr txBox="1"/>
          <p:nvPr/>
        </p:nvSpPr>
        <p:spPr>
          <a:xfrm>
            <a:off x="548640" y="6455664"/>
            <a:ext cx="54864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100" b="1">
                <a:solidFill>
                  <a:srgbClr val="4F39F6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LMS</a:t>
            </a:r>
            <a:r>
              <a:rPr sz="1000" b="0">
                <a:solidFill>
                  <a:srgbClr val="62748E"/>
                </a:solidFill>
              </a:rPr>
              <a:t>  ·  Đồ án Lập trình Web (Java)</a:t>
            </a:r>
          </a:p>
        </p:txBody>
      </p:sp>
      <p:sp>
        <p:nvSpPr>
          <p:cNvPr id="266" name="TextBox 13"/>
          <p:cNvSpPr txBox="1"/>
          <p:nvPr/>
        </p:nvSpPr>
        <p:spPr>
          <a:xfrm>
            <a:off x="8899855" y="6455664"/>
            <a:ext cx="27432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0A1B9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Java &amp; JVM   05 / 22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69" name="TextBox 2"/>
          <p:cNvSpPr txBox="1"/>
          <p:nvPr/>
        </p:nvSpPr>
        <p:spPr>
          <a:xfrm>
            <a:off x="548640" y="384047"/>
            <a:ext cx="1097280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300" b="1">
                <a:solidFill>
                  <a:srgbClr val="4F39F6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02 · NGÔN NGỮ JAVA</a:t>
            </a:r>
          </a:p>
        </p:txBody>
      </p:sp>
      <p:sp>
        <p:nvSpPr>
          <p:cNvPr id="270" name="TextBox 3"/>
          <p:cNvSpPr txBox="1"/>
          <p:nvPr/>
        </p:nvSpPr>
        <p:spPr>
          <a:xfrm>
            <a:off x="548639" y="676655"/>
            <a:ext cx="11064242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3000" b="1">
                <a:solidFill>
                  <a:srgbClr val="0F172B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Java hiện đại trong đồ án</a:t>
            </a:r>
          </a:p>
        </p:txBody>
      </p:sp>
      <p:sp>
        <p:nvSpPr>
          <p:cNvPr id="271" name="Rounded Rectangle 4"/>
          <p:cNvSpPr/>
          <p:nvPr/>
        </p:nvSpPr>
        <p:spPr>
          <a:xfrm>
            <a:off x="576072" y="1389888"/>
            <a:ext cx="502920" cy="50801"/>
          </a:xfrm>
          <a:prstGeom prst="roundRect">
            <a:avLst>
              <a:gd name="adj" fmla="val 50000"/>
            </a:avLst>
          </a:prstGeom>
          <a:solidFill>
            <a:srgbClr val="4F39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72" name="Rounded Rectangle 5"/>
          <p:cNvSpPr/>
          <p:nvPr/>
        </p:nvSpPr>
        <p:spPr>
          <a:xfrm>
            <a:off x="640080" y="1737360"/>
            <a:ext cx="5394960" cy="1170433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73" name="TextBox 6"/>
          <p:cNvSpPr txBox="1"/>
          <p:nvPr/>
        </p:nvSpPr>
        <p:spPr>
          <a:xfrm>
            <a:off x="914400" y="1883664"/>
            <a:ext cx="484632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500" b="1">
                <a:solidFill>
                  <a:srgbClr val="0F172B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Lambda &amp; Stream API</a:t>
            </a:r>
          </a:p>
        </p:txBody>
      </p:sp>
      <p:sp>
        <p:nvSpPr>
          <p:cNvPr id="274" name="TextBox 7"/>
          <p:cNvSpPr txBox="1"/>
          <p:nvPr/>
        </p:nvSpPr>
        <p:spPr>
          <a:xfrm>
            <a:off x="914400" y="2240279"/>
            <a:ext cx="4846321" cy="409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200">
                <a:solidFill>
                  <a:srgbClr val="45556C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Xử lý tập hợp kiểu khai báo — dùng cho toàn bộ thống kê giảng viên (groupingBy, reducing, counting).</a:t>
            </a:r>
          </a:p>
        </p:txBody>
      </p:sp>
      <p:sp>
        <p:nvSpPr>
          <p:cNvPr id="275" name="Rounded Rectangle 8"/>
          <p:cNvSpPr/>
          <p:nvPr/>
        </p:nvSpPr>
        <p:spPr>
          <a:xfrm>
            <a:off x="6309359" y="1737360"/>
            <a:ext cx="5394961" cy="1170433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76" name="TextBox 9"/>
          <p:cNvSpPr txBox="1"/>
          <p:nvPr/>
        </p:nvSpPr>
        <p:spPr>
          <a:xfrm>
            <a:off x="6583680" y="1883664"/>
            <a:ext cx="484632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500" b="1">
                <a:solidFill>
                  <a:srgbClr val="0F172B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Optional &amp; java.time</a:t>
            </a:r>
          </a:p>
        </p:txBody>
      </p:sp>
      <p:sp>
        <p:nvSpPr>
          <p:cNvPr id="277" name="TextBox 10"/>
          <p:cNvSpPr txBox="1"/>
          <p:nvPr/>
        </p:nvSpPr>
        <p:spPr>
          <a:xfrm>
            <a:off x="6583680" y="2240279"/>
            <a:ext cx="4846321" cy="409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200">
                <a:solidFill>
                  <a:srgbClr val="45556C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Chống NullPointerException ở tầng repository; OffsetDateTime + UTC cho mọi mốc thời gian.</a:t>
            </a:r>
          </a:p>
        </p:txBody>
      </p:sp>
      <p:sp>
        <p:nvSpPr>
          <p:cNvPr id="278" name="Rounded Rectangle 11"/>
          <p:cNvSpPr/>
          <p:nvPr/>
        </p:nvSpPr>
        <p:spPr>
          <a:xfrm>
            <a:off x="640080" y="3108960"/>
            <a:ext cx="5394960" cy="1170433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79" name="TextBox 12"/>
          <p:cNvSpPr txBox="1"/>
          <p:nvPr/>
        </p:nvSpPr>
        <p:spPr>
          <a:xfrm>
            <a:off x="914400" y="3255264"/>
            <a:ext cx="484632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500" b="1">
                <a:solidFill>
                  <a:srgbClr val="0F172B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Records · switch expressions · var</a:t>
            </a:r>
          </a:p>
        </p:txBody>
      </p:sp>
      <p:sp>
        <p:nvSpPr>
          <p:cNvPr id="280" name="TextBox 13"/>
          <p:cNvSpPr txBox="1"/>
          <p:nvPr/>
        </p:nvSpPr>
        <p:spPr>
          <a:xfrm>
            <a:off x="914400" y="3611879"/>
            <a:ext cx="4846321" cy="409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200">
                <a:solidFill>
                  <a:srgbClr val="45556C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Cú pháp gọn cho DTO/mapping; giá trị hóa switch khi ánh xạ trạng thái.</a:t>
            </a:r>
          </a:p>
        </p:txBody>
      </p:sp>
      <p:sp>
        <p:nvSpPr>
          <p:cNvPr id="281" name="Rounded Rectangle 14"/>
          <p:cNvSpPr/>
          <p:nvPr/>
        </p:nvSpPr>
        <p:spPr>
          <a:xfrm>
            <a:off x="6309359" y="3108960"/>
            <a:ext cx="5394961" cy="1170433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82" name="TextBox 15"/>
          <p:cNvSpPr txBox="1"/>
          <p:nvPr/>
        </p:nvSpPr>
        <p:spPr>
          <a:xfrm>
            <a:off x="6583680" y="3255264"/>
            <a:ext cx="484632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500" b="1">
                <a:solidFill>
                  <a:srgbClr val="0F172B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Virtual threads (Java 21+)</a:t>
            </a:r>
          </a:p>
        </p:txBody>
      </p:sp>
      <p:sp>
        <p:nvSpPr>
          <p:cNvPr id="283" name="TextBox 16"/>
          <p:cNvSpPr txBox="1"/>
          <p:nvPr/>
        </p:nvSpPr>
        <p:spPr>
          <a:xfrm>
            <a:off x="6583680" y="3611879"/>
            <a:ext cx="4846321" cy="409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200">
                <a:solidFill>
                  <a:srgbClr val="45556C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Luồng siêu nhẹ do JVM lập lịch — hướng mở rộng có sẵn của nền tảng Java 25.</a:t>
            </a:r>
          </a:p>
        </p:txBody>
      </p:sp>
      <p:sp>
        <p:nvSpPr>
          <p:cNvPr id="284" name="TextBox 17"/>
          <p:cNvSpPr txBox="1"/>
          <p:nvPr/>
        </p:nvSpPr>
        <p:spPr>
          <a:xfrm>
            <a:off x="640080" y="4590288"/>
            <a:ext cx="1005840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300" b="1">
                <a:solidFill>
                  <a:srgbClr val="31415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Ví dụ thực tế — đếm số học viên theo từng khóa học (InstructorStatsService):</a:t>
            </a:r>
          </a:p>
        </p:txBody>
      </p:sp>
      <p:sp>
        <p:nvSpPr>
          <p:cNvPr id="285" name="Rounded Rectangle 18"/>
          <p:cNvSpPr/>
          <p:nvPr/>
        </p:nvSpPr>
        <p:spPr>
          <a:xfrm>
            <a:off x="640080" y="4956047"/>
            <a:ext cx="10881360" cy="1170433"/>
          </a:xfrm>
          <a:prstGeom prst="roundRect">
            <a:avLst>
              <a:gd name="adj" fmla="val 6000"/>
            </a:avLst>
          </a:prstGeom>
          <a:solidFill>
            <a:srgbClr val="0F172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86" name="TextBox 19"/>
          <p:cNvSpPr txBox="1"/>
          <p:nvPr/>
        </p:nvSpPr>
        <p:spPr>
          <a:xfrm>
            <a:off x="868680" y="5120640"/>
            <a:ext cx="10424160" cy="586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defRPr sz="12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Map&lt;UUID, Long&gt; studentsByCourse = enrollments.stream()</a:t>
            </a:r>
          </a:p>
          <a:p>
            <a:pPr>
              <a:lnSpc>
                <a:spcPct val="115000"/>
              </a:lnSpc>
              <a:defRPr sz="12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    .collect(Collectors.groupingBy(e -&gt; e.getCourse().getId(),</a:t>
            </a:r>
          </a:p>
          <a:p>
            <a:pPr>
              <a:lnSpc>
                <a:spcPct val="115000"/>
              </a:lnSpc>
              <a:defRPr sz="12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                                   Collectors.counting()));</a:t>
            </a:r>
          </a:p>
        </p:txBody>
      </p:sp>
      <p:sp>
        <p:nvSpPr>
          <p:cNvPr id="287" name="Rectangle 20"/>
          <p:cNvSpPr/>
          <p:nvPr/>
        </p:nvSpPr>
        <p:spPr>
          <a:xfrm>
            <a:off x="548639" y="6382511"/>
            <a:ext cx="11094417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88" name="TextBox 21"/>
          <p:cNvSpPr txBox="1"/>
          <p:nvPr/>
        </p:nvSpPr>
        <p:spPr>
          <a:xfrm>
            <a:off x="548640" y="6455664"/>
            <a:ext cx="54864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100" b="1">
                <a:solidFill>
                  <a:srgbClr val="4F39F6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LMS</a:t>
            </a:r>
            <a:r>
              <a:rPr sz="1000" b="0">
                <a:solidFill>
                  <a:srgbClr val="62748E"/>
                </a:solidFill>
              </a:rPr>
              <a:t>  ·  Đồ án Lập trình Web (Java)</a:t>
            </a:r>
          </a:p>
        </p:txBody>
      </p:sp>
      <p:sp>
        <p:nvSpPr>
          <p:cNvPr id="289" name="TextBox 22"/>
          <p:cNvSpPr txBox="1"/>
          <p:nvPr/>
        </p:nvSpPr>
        <p:spPr>
          <a:xfrm>
            <a:off x="8899855" y="6455664"/>
            <a:ext cx="27432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0A1B9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Java hiện đại   06 / 22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92" name="TextBox 2"/>
          <p:cNvSpPr txBox="1"/>
          <p:nvPr/>
        </p:nvSpPr>
        <p:spPr>
          <a:xfrm>
            <a:off x="548640" y="384047"/>
            <a:ext cx="1097280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300" b="1">
                <a:solidFill>
                  <a:srgbClr val="4F39F6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03 · MÔ HÌNH SPRING</a:t>
            </a:r>
          </a:p>
        </p:txBody>
      </p:sp>
      <p:sp>
        <p:nvSpPr>
          <p:cNvPr id="293" name="TextBox 3"/>
          <p:cNvSpPr txBox="1"/>
          <p:nvPr/>
        </p:nvSpPr>
        <p:spPr>
          <a:xfrm>
            <a:off x="548639" y="676655"/>
            <a:ext cx="11064242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3000" b="1">
                <a:solidFill>
                  <a:srgbClr val="0F172B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IoC / DI · AOP · Auto-configuration</a:t>
            </a:r>
          </a:p>
        </p:txBody>
      </p:sp>
      <p:sp>
        <p:nvSpPr>
          <p:cNvPr id="294" name="Rounded Rectangle 4"/>
          <p:cNvSpPr/>
          <p:nvPr/>
        </p:nvSpPr>
        <p:spPr>
          <a:xfrm>
            <a:off x="576072" y="1389888"/>
            <a:ext cx="502920" cy="50801"/>
          </a:xfrm>
          <a:prstGeom prst="roundRect">
            <a:avLst>
              <a:gd name="adj" fmla="val 50000"/>
            </a:avLst>
          </a:prstGeom>
          <a:solidFill>
            <a:srgbClr val="4F39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95" name="Rounded Rectangle 5"/>
          <p:cNvSpPr/>
          <p:nvPr/>
        </p:nvSpPr>
        <p:spPr>
          <a:xfrm>
            <a:off x="640080" y="1691639"/>
            <a:ext cx="5394960" cy="274320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96" name="TextBox 6"/>
          <p:cNvSpPr txBox="1"/>
          <p:nvPr/>
        </p:nvSpPr>
        <p:spPr>
          <a:xfrm>
            <a:off x="914400" y="1847088"/>
            <a:ext cx="484632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500" b="1">
                <a:solidFill>
                  <a:srgbClr val="432DD7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IoC &amp; Dependency Injection</a:t>
            </a:r>
          </a:p>
        </p:txBody>
      </p:sp>
      <p:sp>
        <p:nvSpPr>
          <p:cNvPr id="297" name="TextBox 7"/>
          <p:cNvSpPr txBox="1"/>
          <p:nvPr/>
        </p:nvSpPr>
        <p:spPr>
          <a:xfrm>
            <a:off x="914400" y="2194560"/>
            <a:ext cx="4846321" cy="628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200">
                <a:solidFill>
                  <a:srgbClr val="45556C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Container khởi tạo mọi bean (@Service, @Repository, @RestController…) và tiêm qua constructor — phụ thuộc tường minh, dễ test, loose coupling.</a:t>
            </a:r>
          </a:p>
        </p:txBody>
      </p:sp>
      <p:sp>
        <p:nvSpPr>
          <p:cNvPr id="298" name="Rounded Rectangle 8"/>
          <p:cNvSpPr/>
          <p:nvPr/>
        </p:nvSpPr>
        <p:spPr>
          <a:xfrm>
            <a:off x="914400" y="3063239"/>
            <a:ext cx="4846321" cy="1170434"/>
          </a:xfrm>
          <a:prstGeom prst="roundRect">
            <a:avLst>
              <a:gd name="adj" fmla="val 6000"/>
            </a:avLst>
          </a:prstGeom>
          <a:solidFill>
            <a:srgbClr val="0F172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99" name="TextBox 9"/>
          <p:cNvSpPr txBox="1"/>
          <p:nvPr/>
        </p:nvSpPr>
        <p:spPr>
          <a:xfrm>
            <a:off x="1143000" y="3227832"/>
            <a:ext cx="4389121" cy="853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defRPr sz="10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@Service @RequiredArgsConstructor</a:t>
            </a:r>
          </a:p>
          <a:p>
            <a:pPr>
              <a:lnSpc>
                <a:spcPct val="115000"/>
              </a:lnSpc>
              <a:defRPr sz="10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public class CourseService {</a:t>
            </a:r>
          </a:p>
          <a:p>
            <a:pPr>
              <a:lnSpc>
                <a:spcPct val="115000"/>
              </a:lnSpc>
              <a:defRPr sz="10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private final CourseRepository courseRepository;</a:t>
            </a:r>
          </a:p>
          <a:p>
            <a:pPr>
              <a:lnSpc>
                <a:spcPct val="115000"/>
              </a:lnSpc>
              <a:defRPr sz="10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private final CategoryRepository categoryRepository;</a:t>
            </a:r>
          </a:p>
          <a:p>
            <a:pPr>
              <a:lnSpc>
                <a:spcPct val="115000"/>
              </a:lnSpc>
              <a:defRPr sz="10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}</a:t>
            </a:r>
          </a:p>
        </p:txBody>
      </p:sp>
      <p:sp>
        <p:nvSpPr>
          <p:cNvPr id="300" name="Rounded Rectangle 10"/>
          <p:cNvSpPr/>
          <p:nvPr/>
        </p:nvSpPr>
        <p:spPr>
          <a:xfrm>
            <a:off x="6263640" y="1691639"/>
            <a:ext cx="5349241" cy="129844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01" name="TextBox 11"/>
          <p:cNvSpPr txBox="1"/>
          <p:nvPr/>
        </p:nvSpPr>
        <p:spPr>
          <a:xfrm>
            <a:off x="6537959" y="1828800"/>
            <a:ext cx="4846321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500" b="1">
                <a:solidFill>
                  <a:srgbClr val="432DD7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AOP — khía cạnh cắt ngang</a:t>
            </a:r>
          </a:p>
        </p:txBody>
      </p:sp>
      <p:sp>
        <p:nvSpPr>
          <p:cNvPr id="302" name="TextBox 12"/>
          <p:cNvSpPr txBox="1"/>
          <p:nvPr/>
        </p:nvSpPr>
        <p:spPr>
          <a:xfrm>
            <a:off x="6537959" y="2176272"/>
            <a:ext cx="4846321" cy="628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200">
                <a:solidFill>
                  <a:srgbClr val="45556C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@Transactional mở/commit giao dịch quanh phương thức; @PreAuthorize chặn theo vai trò; @RestControllerAdvice gom xử lý lỗi — mã nghiệp vụ chỉ còn nghiệp vụ.</a:t>
            </a:r>
          </a:p>
        </p:txBody>
      </p:sp>
      <p:sp>
        <p:nvSpPr>
          <p:cNvPr id="303" name="Rounded Rectangle 13"/>
          <p:cNvSpPr/>
          <p:nvPr/>
        </p:nvSpPr>
        <p:spPr>
          <a:xfrm>
            <a:off x="6263640" y="3136392"/>
            <a:ext cx="5349241" cy="129844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04" name="TextBox 14"/>
          <p:cNvSpPr txBox="1"/>
          <p:nvPr/>
        </p:nvSpPr>
        <p:spPr>
          <a:xfrm>
            <a:off x="6537959" y="3273552"/>
            <a:ext cx="484632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500" b="1">
                <a:solidFill>
                  <a:srgbClr val="432DD7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Spring Boot — auto-configuration</a:t>
            </a:r>
          </a:p>
        </p:txBody>
      </p:sp>
      <p:sp>
        <p:nvSpPr>
          <p:cNvPr id="305" name="TextBox 15"/>
          <p:cNvSpPr txBox="1"/>
          <p:nvPr/>
        </p:nvSpPr>
        <p:spPr>
          <a:xfrm>
            <a:off x="6537959" y="3621023"/>
            <a:ext cx="4846321" cy="6288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200">
                <a:solidFill>
                  <a:srgbClr val="45556C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Starter trên classpath → tự dựng Tomcat, DataSource, Flyway… Cấu hình ngoại vi: ${JWT_SECRET:default} — local dùng mặc định, Azure ghi đè qua App Settings.</a:t>
            </a:r>
          </a:p>
        </p:txBody>
      </p:sp>
      <p:sp>
        <p:nvSpPr>
          <p:cNvPr id="306" name="Rounded Rectangle 16"/>
          <p:cNvSpPr/>
          <p:nvPr/>
        </p:nvSpPr>
        <p:spPr>
          <a:xfrm>
            <a:off x="640080" y="4663440"/>
            <a:ext cx="10972801" cy="1417321"/>
          </a:xfrm>
          <a:prstGeom prst="roundRect">
            <a:avLst>
              <a:gd name="adj" fmla="val 8000"/>
            </a:avLst>
          </a:prstGeom>
          <a:solidFill>
            <a:srgbClr val="EEF2FF"/>
          </a:solidFill>
          <a:ln w="12700">
            <a:solidFill>
              <a:srgbClr val="C6D2FF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07" name="TextBox 17"/>
          <p:cNvSpPr txBox="1"/>
          <p:nvPr/>
        </p:nvSpPr>
        <p:spPr>
          <a:xfrm>
            <a:off x="914400" y="4828032"/>
            <a:ext cx="10424160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400"/>
              </a:spcBef>
              <a:defRPr sz="1300" b="1">
                <a:solidFill>
                  <a:srgbClr val="432DD7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Tổ chức mã theo tính năng (package-by-feature)</a:t>
            </a:r>
          </a:p>
          <a:p>
            <a:pPr>
              <a:lnSpc>
                <a:spcPct val="120000"/>
              </a:lnSpc>
              <a:defRPr sz="1200">
                <a:solidFill>
                  <a:srgbClr val="45556C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com.lms.auth · course · enrollment · progress · payment · instructor · user · security · common — mỗi package chứa trọn controller + service + entity + repository + DTO của một nghiệp vụ; thêm tính năng chỉ chạm một package.</a:t>
            </a:r>
          </a:p>
        </p:txBody>
      </p:sp>
      <p:sp>
        <p:nvSpPr>
          <p:cNvPr id="308" name="Rectangle 18"/>
          <p:cNvSpPr/>
          <p:nvPr/>
        </p:nvSpPr>
        <p:spPr>
          <a:xfrm>
            <a:off x="548639" y="6382511"/>
            <a:ext cx="11094417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09" name="TextBox 19"/>
          <p:cNvSpPr txBox="1"/>
          <p:nvPr/>
        </p:nvSpPr>
        <p:spPr>
          <a:xfrm>
            <a:off x="548640" y="6455664"/>
            <a:ext cx="54864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100" b="1">
                <a:solidFill>
                  <a:srgbClr val="4F39F6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LMS</a:t>
            </a:r>
            <a:r>
              <a:rPr sz="1000" b="0">
                <a:solidFill>
                  <a:srgbClr val="62748E"/>
                </a:solidFill>
              </a:rPr>
              <a:t>  ·  Đồ án Lập trình Web (Java)</a:t>
            </a:r>
          </a:p>
        </p:txBody>
      </p:sp>
      <p:sp>
        <p:nvSpPr>
          <p:cNvPr id="310" name="TextBox 20"/>
          <p:cNvSpPr txBox="1"/>
          <p:nvPr/>
        </p:nvSpPr>
        <p:spPr>
          <a:xfrm>
            <a:off x="8899855" y="6455664"/>
            <a:ext cx="27432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0A1B9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Mô hình Spring   07 / 22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13" name="TextBox 2"/>
          <p:cNvSpPr txBox="1"/>
          <p:nvPr/>
        </p:nvSpPr>
        <p:spPr>
          <a:xfrm>
            <a:off x="548640" y="384047"/>
            <a:ext cx="1097280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300" b="1">
                <a:solidFill>
                  <a:srgbClr val="4F39F6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03 · MÔ HÌNH SPRING</a:t>
            </a:r>
          </a:p>
        </p:txBody>
      </p:sp>
      <p:sp>
        <p:nvSpPr>
          <p:cNvPr id="314" name="TextBox 3"/>
          <p:cNvSpPr txBox="1"/>
          <p:nvPr/>
        </p:nvSpPr>
        <p:spPr>
          <a:xfrm>
            <a:off x="548639" y="676655"/>
            <a:ext cx="11064242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3000" b="1">
                <a:solidFill>
                  <a:srgbClr val="0F172B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Vòng đời một request qua Spring MVC</a:t>
            </a:r>
          </a:p>
        </p:txBody>
      </p:sp>
      <p:sp>
        <p:nvSpPr>
          <p:cNvPr id="315" name="Rounded Rectangle 4"/>
          <p:cNvSpPr/>
          <p:nvPr/>
        </p:nvSpPr>
        <p:spPr>
          <a:xfrm>
            <a:off x="576072" y="1389888"/>
            <a:ext cx="502920" cy="50801"/>
          </a:xfrm>
          <a:prstGeom prst="roundRect">
            <a:avLst>
              <a:gd name="adj" fmla="val 50000"/>
            </a:avLst>
          </a:prstGeom>
          <a:solidFill>
            <a:srgbClr val="4F39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16" name="Rounded Rectangle 5"/>
          <p:cNvSpPr/>
          <p:nvPr/>
        </p:nvSpPr>
        <p:spPr>
          <a:xfrm>
            <a:off x="685800" y="1691639"/>
            <a:ext cx="10835641" cy="443484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317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93976" y="1920239"/>
            <a:ext cx="8001001" cy="3896140"/>
          </a:xfrm>
          <a:prstGeom prst="rect">
            <a:avLst/>
          </a:prstGeom>
          <a:ln w="12700">
            <a:miter lim="400000"/>
          </a:ln>
        </p:spPr>
      </p:pic>
      <p:sp>
        <p:nvSpPr>
          <p:cNvPr id="318" name="Rectangle 7"/>
          <p:cNvSpPr/>
          <p:nvPr/>
        </p:nvSpPr>
        <p:spPr>
          <a:xfrm>
            <a:off x="548639" y="6382511"/>
            <a:ext cx="11094417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19" name="TextBox 8"/>
          <p:cNvSpPr txBox="1"/>
          <p:nvPr/>
        </p:nvSpPr>
        <p:spPr>
          <a:xfrm>
            <a:off x="548640" y="6455664"/>
            <a:ext cx="54864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100" b="1">
                <a:solidFill>
                  <a:srgbClr val="4F39F6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LMS</a:t>
            </a:r>
            <a:r>
              <a:rPr sz="1000" b="0">
                <a:solidFill>
                  <a:srgbClr val="62748E"/>
                </a:solidFill>
              </a:rPr>
              <a:t>  ·  Đồ án Lập trình Web (Java)</a:t>
            </a:r>
          </a:p>
        </p:txBody>
      </p:sp>
      <p:sp>
        <p:nvSpPr>
          <p:cNvPr id="320" name="TextBox 9"/>
          <p:cNvSpPr txBox="1"/>
          <p:nvPr/>
        </p:nvSpPr>
        <p:spPr>
          <a:xfrm>
            <a:off x="8899855" y="6455664"/>
            <a:ext cx="27432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0A1B9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Spring MVC   08 / 22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23" name="TextBox 2"/>
          <p:cNvSpPr txBox="1"/>
          <p:nvPr/>
        </p:nvSpPr>
        <p:spPr>
          <a:xfrm>
            <a:off x="548640" y="384047"/>
            <a:ext cx="1097280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300" b="1">
                <a:solidFill>
                  <a:srgbClr val="4F39F6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04 · THIẾT KẾ</a:t>
            </a:r>
          </a:p>
        </p:txBody>
      </p:sp>
      <p:sp>
        <p:nvSpPr>
          <p:cNvPr id="324" name="TextBox 3"/>
          <p:cNvSpPr txBox="1"/>
          <p:nvPr/>
        </p:nvSpPr>
        <p:spPr>
          <a:xfrm>
            <a:off x="548639" y="676655"/>
            <a:ext cx="11064242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3000" b="1">
                <a:solidFill>
                  <a:srgbClr val="0F172B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Kiến trúc tổng thể</a:t>
            </a:r>
          </a:p>
        </p:txBody>
      </p:sp>
      <p:sp>
        <p:nvSpPr>
          <p:cNvPr id="325" name="Rounded Rectangle 4"/>
          <p:cNvSpPr/>
          <p:nvPr/>
        </p:nvSpPr>
        <p:spPr>
          <a:xfrm>
            <a:off x="576072" y="1389888"/>
            <a:ext cx="502920" cy="50801"/>
          </a:xfrm>
          <a:prstGeom prst="roundRect">
            <a:avLst>
              <a:gd name="adj" fmla="val 50000"/>
            </a:avLst>
          </a:prstGeom>
          <a:solidFill>
            <a:srgbClr val="4F39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26" name="Rounded Rectangle 5"/>
          <p:cNvSpPr/>
          <p:nvPr/>
        </p:nvSpPr>
        <p:spPr>
          <a:xfrm>
            <a:off x="685800" y="1691639"/>
            <a:ext cx="10835641" cy="448056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327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48255" y="1965960"/>
            <a:ext cx="8092442" cy="3940667"/>
          </a:xfrm>
          <a:prstGeom prst="rect">
            <a:avLst/>
          </a:prstGeom>
          <a:ln w="12700">
            <a:miter lim="400000"/>
          </a:ln>
        </p:spPr>
      </p:pic>
      <p:sp>
        <p:nvSpPr>
          <p:cNvPr id="328" name="Rectangle 7"/>
          <p:cNvSpPr/>
          <p:nvPr/>
        </p:nvSpPr>
        <p:spPr>
          <a:xfrm>
            <a:off x="548639" y="6382511"/>
            <a:ext cx="11094417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29" name="TextBox 8"/>
          <p:cNvSpPr txBox="1"/>
          <p:nvPr/>
        </p:nvSpPr>
        <p:spPr>
          <a:xfrm>
            <a:off x="548640" y="6455664"/>
            <a:ext cx="54864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100" b="1">
                <a:solidFill>
                  <a:srgbClr val="4F39F6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LMS</a:t>
            </a:r>
            <a:r>
              <a:rPr sz="1000" b="0">
                <a:solidFill>
                  <a:srgbClr val="62748E"/>
                </a:solidFill>
              </a:rPr>
              <a:t>  ·  Đồ án Lập trình Web (Java)</a:t>
            </a:r>
          </a:p>
        </p:txBody>
      </p:sp>
      <p:sp>
        <p:nvSpPr>
          <p:cNvPr id="330" name="TextBox 9"/>
          <p:cNvSpPr txBox="1"/>
          <p:nvPr/>
        </p:nvSpPr>
        <p:spPr>
          <a:xfrm>
            <a:off x="8899855" y="6455664"/>
            <a:ext cx="27432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0A1B9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Kiến trúc   09 / 22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33" name="TextBox 2"/>
          <p:cNvSpPr txBox="1"/>
          <p:nvPr/>
        </p:nvSpPr>
        <p:spPr>
          <a:xfrm>
            <a:off x="548640" y="384047"/>
            <a:ext cx="1097280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300" b="1">
                <a:solidFill>
                  <a:srgbClr val="4F39F6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04 · THIẾT KẾ</a:t>
            </a:r>
          </a:p>
        </p:txBody>
      </p:sp>
      <p:sp>
        <p:nvSpPr>
          <p:cNvPr id="334" name="TextBox 3"/>
          <p:cNvSpPr txBox="1"/>
          <p:nvPr/>
        </p:nvSpPr>
        <p:spPr>
          <a:xfrm>
            <a:off x="548639" y="676655"/>
            <a:ext cx="11064242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3000" b="1">
                <a:solidFill>
                  <a:srgbClr val="0F172B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Cơ sở dữ liệu &amp; Flyway</a:t>
            </a:r>
          </a:p>
        </p:txBody>
      </p:sp>
      <p:sp>
        <p:nvSpPr>
          <p:cNvPr id="335" name="Rounded Rectangle 4"/>
          <p:cNvSpPr/>
          <p:nvPr/>
        </p:nvSpPr>
        <p:spPr>
          <a:xfrm>
            <a:off x="576072" y="1389888"/>
            <a:ext cx="502920" cy="50801"/>
          </a:xfrm>
          <a:prstGeom prst="roundRect">
            <a:avLst>
              <a:gd name="adj" fmla="val 50000"/>
            </a:avLst>
          </a:prstGeom>
          <a:solidFill>
            <a:srgbClr val="4F39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36" name="Rounded Rectangle 5"/>
          <p:cNvSpPr/>
          <p:nvPr/>
        </p:nvSpPr>
        <p:spPr>
          <a:xfrm>
            <a:off x="640080" y="1691639"/>
            <a:ext cx="6949441" cy="443484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337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60119" y="1874518"/>
            <a:ext cx="6309361" cy="4169666"/>
          </a:xfrm>
          <a:prstGeom prst="rect">
            <a:avLst/>
          </a:prstGeom>
          <a:ln w="12700">
            <a:miter lim="400000"/>
          </a:ln>
        </p:spPr>
      </p:pic>
      <p:sp>
        <p:nvSpPr>
          <p:cNvPr id="338" name="TextBox 7"/>
          <p:cNvSpPr txBox="1"/>
          <p:nvPr/>
        </p:nvSpPr>
        <p:spPr>
          <a:xfrm>
            <a:off x="7863840" y="1783079"/>
            <a:ext cx="3749040" cy="32513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1200"/>
              </a:spcBef>
              <a:defRPr sz="1300" b="1">
                <a:solidFill>
                  <a:srgbClr val="4F39F6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•  </a:t>
            </a:r>
            <a:r>
              <a:rPr>
                <a:solidFill>
                  <a:srgbClr val="0F172B"/>
                </a:solidFill>
              </a:rPr>
              <a:t>8 bảng, UUID PK </a:t>
            </a:r>
            <a:r>
              <a:rPr b="0">
                <a:solidFill>
                  <a:srgbClr val="45556C"/>
                </a:solidFill>
              </a:rPr>
              <a:t>— gen_random_uuid() tại CSDL.</a:t>
            </a:r>
          </a:p>
          <a:p>
            <a:pPr>
              <a:spcBef>
                <a:spcPts val="1200"/>
              </a:spcBef>
              <a:defRPr sz="1300" b="1">
                <a:solidFill>
                  <a:srgbClr val="4F39F6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•  </a:t>
            </a:r>
            <a:r>
              <a:rPr>
                <a:solidFill>
                  <a:srgbClr val="0F172B"/>
                </a:solidFill>
              </a:rPr>
              <a:t>Ràng buộc ở mức dữ liệu: </a:t>
            </a:r>
            <a:r>
              <a:rPr b="0">
                <a:solidFill>
                  <a:srgbClr val="45556C"/>
                </a:solidFill>
              </a:rPr>
              <a:t>UNIQUE(user, course), UNIQUE(enrollment, lesson), FK CASCADE cho cây chương trình học.</a:t>
            </a:r>
          </a:p>
          <a:p>
            <a:pPr>
              <a:spcBef>
                <a:spcPts val="1200"/>
              </a:spcBef>
              <a:defRPr sz="1300" b="1">
                <a:solidFill>
                  <a:srgbClr val="4F39F6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•  </a:t>
            </a:r>
            <a:r>
              <a:rPr>
                <a:solidFill>
                  <a:srgbClr val="0F172B"/>
                </a:solidFill>
              </a:rPr>
              <a:t>Bộ đếm phi chuẩn hóa </a:t>
            </a:r>
            <a:r>
              <a:rPr b="0">
                <a:solidFill>
                  <a:srgbClr val="45556C"/>
                </a:solidFill>
              </a:rPr>
              <a:t>completed_lessons_count — dashboard đọc nhanh không cần join.</a:t>
            </a:r>
          </a:p>
          <a:p>
            <a:pPr>
              <a:spcBef>
                <a:spcPts val="1200"/>
              </a:spcBef>
              <a:defRPr sz="1300" b="1">
                <a:solidFill>
                  <a:srgbClr val="4F39F6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•  </a:t>
            </a:r>
            <a:r>
              <a:rPr>
                <a:solidFill>
                  <a:srgbClr val="0F172B"/>
                </a:solidFill>
              </a:rPr>
              <a:t>Flyway V1 → V5: </a:t>
            </a:r>
            <a:r>
              <a:rPr b="0">
                <a:solidFill>
                  <a:srgbClr val="45556C"/>
                </a:solidFill>
              </a:rPr>
              <a:t>lược đồ tiến hóa bằng migration bất biến; Hibernate chỉ validate.</a:t>
            </a:r>
          </a:p>
          <a:p>
            <a:pPr>
              <a:spcBef>
                <a:spcPts val="1200"/>
              </a:spcBef>
              <a:defRPr sz="1300" b="1">
                <a:solidFill>
                  <a:srgbClr val="4F39F6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•  </a:t>
            </a:r>
            <a:r>
              <a:rPr>
                <a:solidFill>
                  <a:srgbClr val="0F172B"/>
                </a:solidFill>
              </a:rPr>
              <a:t>Enum lưu chuỗi </a:t>
            </a:r>
            <a:r>
              <a:rPr b="0">
                <a:solidFill>
                  <a:srgbClr val="45556C"/>
                </a:solidFill>
              </a:rPr>
              <a:t>— dữ liệu tự mô tả (DRAFT/PUBLISHED…).</a:t>
            </a:r>
          </a:p>
        </p:txBody>
      </p:sp>
      <p:sp>
        <p:nvSpPr>
          <p:cNvPr id="339" name="Rectangle 8"/>
          <p:cNvSpPr/>
          <p:nvPr/>
        </p:nvSpPr>
        <p:spPr>
          <a:xfrm>
            <a:off x="548639" y="6382511"/>
            <a:ext cx="11094417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40" name="TextBox 9"/>
          <p:cNvSpPr txBox="1"/>
          <p:nvPr/>
        </p:nvSpPr>
        <p:spPr>
          <a:xfrm>
            <a:off x="548640" y="6455664"/>
            <a:ext cx="54864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100" b="1">
                <a:solidFill>
                  <a:srgbClr val="4F39F6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LMS</a:t>
            </a:r>
            <a:r>
              <a:rPr sz="1000" b="0">
                <a:solidFill>
                  <a:srgbClr val="62748E"/>
                </a:solidFill>
              </a:rPr>
              <a:t>  ·  Đồ án Lập trình Web (Java)</a:t>
            </a:r>
          </a:p>
        </p:txBody>
      </p:sp>
      <p:sp>
        <p:nvSpPr>
          <p:cNvPr id="341" name="TextBox 10"/>
          <p:cNvSpPr txBox="1"/>
          <p:nvPr/>
        </p:nvSpPr>
        <p:spPr>
          <a:xfrm>
            <a:off x="8899855" y="6455664"/>
            <a:ext cx="27432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0A1B9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CSDL   10 / 22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44" name="TextBox 2"/>
          <p:cNvSpPr txBox="1"/>
          <p:nvPr/>
        </p:nvSpPr>
        <p:spPr>
          <a:xfrm>
            <a:off x="548640" y="384047"/>
            <a:ext cx="1097280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300" b="1">
                <a:solidFill>
                  <a:srgbClr val="4F39F6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05 · BACKEND</a:t>
            </a:r>
          </a:p>
        </p:txBody>
      </p:sp>
      <p:sp>
        <p:nvSpPr>
          <p:cNvPr id="345" name="TextBox 3"/>
          <p:cNvSpPr txBox="1"/>
          <p:nvPr/>
        </p:nvSpPr>
        <p:spPr>
          <a:xfrm>
            <a:off x="548639" y="676655"/>
            <a:ext cx="11064242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3000" b="1">
                <a:solidFill>
                  <a:srgbClr val="0F172B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Bảo mật: JWT stateless + phân quyền hai lớp</a:t>
            </a:r>
          </a:p>
        </p:txBody>
      </p:sp>
      <p:sp>
        <p:nvSpPr>
          <p:cNvPr id="346" name="Rounded Rectangle 4"/>
          <p:cNvSpPr/>
          <p:nvPr/>
        </p:nvSpPr>
        <p:spPr>
          <a:xfrm>
            <a:off x="576072" y="1389888"/>
            <a:ext cx="502920" cy="50801"/>
          </a:xfrm>
          <a:prstGeom prst="roundRect">
            <a:avLst>
              <a:gd name="adj" fmla="val 50000"/>
            </a:avLst>
          </a:prstGeom>
          <a:solidFill>
            <a:srgbClr val="4F39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47" name="Rounded Rectangle 5"/>
          <p:cNvSpPr/>
          <p:nvPr/>
        </p:nvSpPr>
        <p:spPr>
          <a:xfrm>
            <a:off x="640080" y="1691639"/>
            <a:ext cx="7635241" cy="443484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348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68680" y="2011679"/>
            <a:ext cx="7178041" cy="3994736"/>
          </a:xfrm>
          <a:prstGeom prst="rect">
            <a:avLst/>
          </a:prstGeom>
          <a:ln w="12700">
            <a:miter lim="400000"/>
          </a:ln>
        </p:spPr>
      </p:pic>
      <p:sp>
        <p:nvSpPr>
          <p:cNvPr id="349" name="TextBox 7"/>
          <p:cNvSpPr txBox="1"/>
          <p:nvPr/>
        </p:nvSpPr>
        <p:spPr>
          <a:xfrm>
            <a:off x="8549640" y="1783079"/>
            <a:ext cx="3063241" cy="3200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1100"/>
              </a:spcBef>
              <a:defRPr sz="1300" b="1">
                <a:solidFill>
                  <a:srgbClr val="4F39F6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•  </a:t>
            </a:r>
            <a:r>
              <a:rPr>
                <a:solidFill>
                  <a:srgbClr val="0F172B"/>
                </a:solidFill>
              </a:rPr>
              <a:t>Access 1 giờ + refresh 7 ngày, </a:t>
            </a:r>
            <a:r>
              <a:rPr b="0">
                <a:solidFill>
                  <a:srgbClr val="45556C"/>
                </a:solidFill>
              </a:rPr>
              <a:t>ký HS256; refresh mang claim type=refresh, xoay cả cặp khi làm mới.</a:t>
            </a:r>
          </a:p>
          <a:p>
            <a:pPr>
              <a:spcBef>
                <a:spcPts val="1100"/>
              </a:spcBef>
              <a:defRPr sz="1300" b="1">
                <a:solidFill>
                  <a:srgbClr val="4F39F6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•  </a:t>
            </a:r>
            <a:r>
              <a:rPr>
                <a:solidFill>
                  <a:srgbClr val="0F172B"/>
                </a:solidFill>
              </a:rPr>
              <a:t>BCrypt </a:t>
            </a:r>
            <a:r>
              <a:rPr b="0">
                <a:solidFill>
                  <a:srgbClr val="45556C"/>
                </a:solidFill>
              </a:rPr>
              <a:t>băm mật khẩu (salt + chi phí thích ứng).</a:t>
            </a:r>
          </a:p>
          <a:p>
            <a:pPr>
              <a:spcBef>
                <a:spcPts val="1100"/>
              </a:spcBef>
              <a:defRPr sz="1300" b="1">
                <a:solidFill>
                  <a:srgbClr val="4F39F6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•  </a:t>
            </a:r>
            <a:r>
              <a:rPr>
                <a:solidFill>
                  <a:srgbClr val="0F172B"/>
                </a:solidFill>
              </a:rPr>
              <a:t>Lớp 1 — vai trò: </a:t>
            </a:r>
            <a:r>
              <a:rPr b="0">
                <a:solidFill>
                  <a:srgbClr val="45556C"/>
                </a:solidFill>
              </a:rPr>
              <a:t>@PreAuthorize hasRole('INSTRUCTOR'/'ADMIN').</a:t>
            </a:r>
          </a:p>
          <a:p>
            <a:pPr>
              <a:spcBef>
                <a:spcPts val="1100"/>
              </a:spcBef>
              <a:defRPr sz="1300" b="1">
                <a:solidFill>
                  <a:srgbClr val="4F39F6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•  </a:t>
            </a:r>
            <a:r>
              <a:rPr>
                <a:solidFill>
                  <a:srgbClr val="0F172B"/>
                </a:solidFill>
              </a:rPr>
              <a:t>Lớp 2 — sở hữu: </a:t>
            </a:r>
            <a:r>
              <a:rPr b="0">
                <a:solidFill>
                  <a:srgbClr val="45556C"/>
                </a:solidFill>
              </a:rPr>
              <a:t>service đối chiếu instructor.id với người gọi → 403.</a:t>
            </a:r>
          </a:p>
          <a:p>
            <a:pPr>
              <a:spcBef>
                <a:spcPts val="1100"/>
              </a:spcBef>
              <a:defRPr sz="1300" b="1">
                <a:solidFill>
                  <a:srgbClr val="4F39F6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•  </a:t>
            </a:r>
            <a:r>
              <a:rPr>
                <a:solidFill>
                  <a:srgbClr val="0F172B"/>
                </a:solidFill>
              </a:rPr>
              <a:t>Đăng ký luôn là STUDENT </a:t>
            </a:r>
            <a:r>
              <a:rPr b="0">
                <a:solidFill>
                  <a:srgbClr val="45556C"/>
                </a:solidFill>
              </a:rPr>
              <a:t>— không thể tự leo quyền qua API.</a:t>
            </a:r>
          </a:p>
        </p:txBody>
      </p:sp>
      <p:sp>
        <p:nvSpPr>
          <p:cNvPr id="350" name="Rectangle 8"/>
          <p:cNvSpPr/>
          <p:nvPr/>
        </p:nvSpPr>
        <p:spPr>
          <a:xfrm>
            <a:off x="548639" y="6382511"/>
            <a:ext cx="11094417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51" name="TextBox 9"/>
          <p:cNvSpPr txBox="1"/>
          <p:nvPr/>
        </p:nvSpPr>
        <p:spPr>
          <a:xfrm>
            <a:off x="548640" y="6455664"/>
            <a:ext cx="54864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100" b="1">
                <a:solidFill>
                  <a:srgbClr val="4F39F6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LMS</a:t>
            </a:r>
            <a:r>
              <a:rPr sz="1000" b="0">
                <a:solidFill>
                  <a:srgbClr val="62748E"/>
                </a:solidFill>
              </a:rPr>
              <a:t>  ·  Đồ án Lập trình Web (Java)</a:t>
            </a:r>
          </a:p>
        </p:txBody>
      </p:sp>
      <p:sp>
        <p:nvSpPr>
          <p:cNvPr id="352" name="TextBox 10"/>
          <p:cNvSpPr txBox="1"/>
          <p:nvPr/>
        </p:nvSpPr>
        <p:spPr>
          <a:xfrm>
            <a:off x="8899855" y="6455664"/>
            <a:ext cx="27432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0A1B9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Bảo mật   11 / 22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55" name="TextBox 2"/>
          <p:cNvSpPr txBox="1"/>
          <p:nvPr/>
        </p:nvSpPr>
        <p:spPr>
          <a:xfrm>
            <a:off x="548640" y="384047"/>
            <a:ext cx="1097280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300" b="1">
                <a:solidFill>
                  <a:srgbClr val="4F39F6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05 · BACKEND</a:t>
            </a:r>
          </a:p>
        </p:txBody>
      </p:sp>
      <p:sp>
        <p:nvSpPr>
          <p:cNvPr id="356" name="TextBox 3"/>
          <p:cNvSpPr txBox="1"/>
          <p:nvPr/>
        </p:nvSpPr>
        <p:spPr>
          <a:xfrm>
            <a:off x="548639" y="676655"/>
            <a:ext cx="11064242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3000" b="1">
                <a:solidFill>
                  <a:srgbClr val="0F172B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Bề mặt API — 37 endpoint / 9 nhóm tài nguyên</a:t>
            </a:r>
          </a:p>
        </p:txBody>
      </p:sp>
      <p:sp>
        <p:nvSpPr>
          <p:cNvPr id="357" name="Rounded Rectangle 4"/>
          <p:cNvSpPr/>
          <p:nvPr/>
        </p:nvSpPr>
        <p:spPr>
          <a:xfrm>
            <a:off x="576072" y="1389888"/>
            <a:ext cx="502920" cy="50801"/>
          </a:xfrm>
          <a:prstGeom prst="roundRect">
            <a:avLst>
              <a:gd name="adj" fmla="val 50000"/>
            </a:avLst>
          </a:prstGeom>
          <a:solidFill>
            <a:srgbClr val="4F39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58" name="Rounded Rectangle 5"/>
          <p:cNvSpPr/>
          <p:nvPr/>
        </p:nvSpPr>
        <p:spPr>
          <a:xfrm>
            <a:off x="640080" y="1737360"/>
            <a:ext cx="3611880" cy="98755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59" name="TextBox 6"/>
          <p:cNvSpPr txBox="1"/>
          <p:nvPr/>
        </p:nvSpPr>
        <p:spPr>
          <a:xfrm>
            <a:off x="868680" y="1856232"/>
            <a:ext cx="237744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400" b="1">
                <a:solidFill>
                  <a:srgbClr val="432DD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/auth</a:t>
            </a:r>
          </a:p>
        </p:txBody>
      </p:sp>
      <p:grpSp>
        <p:nvGrpSpPr>
          <p:cNvPr id="362" name="Rounded Rectangle 7"/>
          <p:cNvGrpSpPr/>
          <p:nvPr/>
        </p:nvGrpSpPr>
        <p:grpSpPr>
          <a:xfrm>
            <a:off x="3520440" y="1883664"/>
            <a:ext cx="502921" cy="292609"/>
            <a:chOff x="0" y="0"/>
            <a:chExt cx="502919" cy="292608"/>
          </a:xfrm>
        </p:grpSpPr>
        <p:sp>
          <p:nvSpPr>
            <p:cNvPr id="360" name="Rounded Rectangle"/>
            <p:cNvSpPr/>
            <p:nvPr/>
          </p:nvSpPr>
          <p:spPr>
            <a:xfrm>
              <a:off x="0" y="0"/>
              <a:ext cx="502920" cy="292609"/>
            </a:xfrm>
            <a:prstGeom prst="roundRect">
              <a:avLst>
                <a:gd name="adj" fmla="val 50000"/>
              </a:avLst>
            </a:prstGeom>
            <a:solidFill>
              <a:srgbClr val="E0E7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61" name="3"/>
            <p:cNvSpPr txBox="1"/>
            <p:nvPr/>
          </p:nvSpPr>
          <p:spPr>
            <a:xfrm>
              <a:off x="187959" y="51054"/>
              <a:ext cx="127001" cy="190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200" b="1">
                  <a:solidFill>
                    <a:srgbClr val="432DD7"/>
                  </a:solidFill>
                  <a:latin typeface="Segoe UI"/>
                  <a:ea typeface="Segoe UI"/>
                  <a:cs typeface="Segoe UI"/>
                  <a:sym typeface="Segoe UI"/>
                </a:defRPr>
              </a:lvl1pPr>
            </a:lstStyle>
            <a:p>
              <a:r>
                <a:t>3</a:t>
              </a:r>
            </a:p>
          </p:txBody>
        </p:sp>
      </p:grpSp>
      <p:sp>
        <p:nvSpPr>
          <p:cNvPr id="363" name="TextBox 8"/>
          <p:cNvSpPr txBox="1"/>
          <p:nvPr/>
        </p:nvSpPr>
        <p:spPr>
          <a:xfrm>
            <a:off x="868680" y="2240279"/>
            <a:ext cx="32004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100">
                <a:solidFill>
                  <a:srgbClr val="45556C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login · register · refresh</a:t>
            </a:r>
          </a:p>
        </p:txBody>
      </p:sp>
      <p:sp>
        <p:nvSpPr>
          <p:cNvPr id="364" name="Rounded Rectangle 9"/>
          <p:cNvSpPr/>
          <p:nvPr/>
        </p:nvSpPr>
        <p:spPr>
          <a:xfrm>
            <a:off x="4434840" y="1737360"/>
            <a:ext cx="3611881" cy="98755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65" name="TextBox 10"/>
          <p:cNvSpPr txBox="1"/>
          <p:nvPr/>
        </p:nvSpPr>
        <p:spPr>
          <a:xfrm>
            <a:off x="4663440" y="1856232"/>
            <a:ext cx="237744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400" b="1">
                <a:solidFill>
                  <a:srgbClr val="432DD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/courses</a:t>
            </a:r>
          </a:p>
        </p:txBody>
      </p:sp>
      <p:grpSp>
        <p:nvGrpSpPr>
          <p:cNvPr id="368" name="Rounded Rectangle 11"/>
          <p:cNvGrpSpPr/>
          <p:nvPr/>
        </p:nvGrpSpPr>
        <p:grpSpPr>
          <a:xfrm>
            <a:off x="7315200" y="1883664"/>
            <a:ext cx="502920" cy="292609"/>
            <a:chOff x="0" y="0"/>
            <a:chExt cx="502919" cy="292608"/>
          </a:xfrm>
        </p:grpSpPr>
        <p:sp>
          <p:nvSpPr>
            <p:cNvPr id="366" name="Rounded Rectangle"/>
            <p:cNvSpPr/>
            <p:nvPr/>
          </p:nvSpPr>
          <p:spPr>
            <a:xfrm>
              <a:off x="0" y="0"/>
              <a:ext cx="502920" cy="292609"/>
            </a:xfrm>
            <a:prstGeom prst="roundRect">
              <a:avLst>
                <a:gd name="adj" fmla="val 50000"/>
              </a:avLst>
            </a:prstGeom>
            <a:solidFill>
              <a:srgbClr val="E0E7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67" name="7"/>
            <p:cNvSpPr txBox="1"/>
            <p:nvPr/>
          </p:nvSpPr>
          <p:spPr>
            <a:xfrm>
              <a:off x="187959" y="51054"/>
              <a:ext cx="127001" cy="190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200" b="1">
                  <a:solidFill>
                    <a:srgbClr val="432DD7"/>
                  </a:solidFill>
                  <a:latin typeface="Segoe UI"/>
                  <a:ea typeface="Segoe UI"/>
                  <a:cs typeface="Segoe UI"/>
                  <a:sym typeface="Segoe UI"/>
                </a:defRPr>
              </a:lvl1pPr>
            </a:lstStyle>
            <a:p>
              <a:r>
                <a:t>7</a:t>
              </a:r>
            </a:p>
          </p:txBody>
        </p:sp>
      </p:grpSp>
      <p:sp>
        <p:nvSpPr>
          <p:cNvPr id="369" name="TextBox 12"/>
          <p:cNvSpPr txBox="1"/>
          <p:nvPr/>
        </p:nvSpPr>
        <p:spPr>
          <a:xfrm>
            <a:off x="4663440" y="2240279"/>
            <a:ext cx="32004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100">
                <a:solidFill>
                  <a:srgbClr val="45556C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catalog + filter/sort/paging · slug · status</a:t>
            </a:r>
          </a:p>
        </p:txBody>
      </p:sp>
      <p:sp>
        <p:nvSpPr>
          <p:cNvPr id="370" name="Rounded Rectangle 13"/>
          <p:cNvSpPr/>
          <p:nvPr/>
        </p:nvSpPr>
        <p:spPr>
          <a:xfrm>
            <a:off x="8229600" y="1737360"/>
            <a:ext cx="3611880" cy="98755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71" name="TextBox 14"/>
          <p:cNvSpPr txBox="1"/>
          <p:nvPr/>
        </p:nvSpPr>
        <p:spPr>
          <a:xfrm>
            <a:off x="8458200" y="1856232"/>
            <a:ext cx="237744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400" b="1">
                <a:solidFill>
                  <a:srgbClr val="432DD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/categories</a:t>
            </a:r>
          </a:p>
        </p:txBody>
      </p:sp>
      <p:grpSp>
        <p:nvGrpSpPr>
          <p:cNvPr id="374" name="Rounded Rectangle 15"/>
          <p:cNvGrpSpPr/>
          <p:nvPr/>
        </p:nvGrpSpPr>
        <p:grpSpPr>
          <a:xfrm>
            <a:off x="11109959" y="1883664"/>
            <a:ext cx="502921" cy="292609"/>
            <a:chOff x="0" y="0"/>
            <a:chExt cx="502919" cy="292608"/>
          </a:xfrm>
        </p:grpSpPr>
        <p:sp>
          <p:nvSpPr>
            <p:cNvPr id="372" name="Rounded Rectangle"/>
            <p:cNvSpPr/>
            <p:nvPr/>
          </p:nvSpPr>
          <p:spPr>
            <a:xfrm>
              <a:off x="0" y="0"/>
              <a:ext cx="502920" cy="292609"/>
            </a:xfrm>
            <a:prstGeom prst="roundRect">
              <a:avLst>
                <a:gd name="adj" fmla="val 50000"/>
              </a:avLst>
            </a:prstGeom>
            <a:solidFill>
              <a:srgbClr val="E0E7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73" name="4"/>
            <p:cNvSpPr txBox="1"/>
            <p:nvPr/>
          </p:nvSpPr>
          <p:spPr>
            <a:xfrm>
              <a:off x="187959" y="51054"/>
              <a:ext cx="127001" cy="190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200" b="1">
                  <a:solidFill>
                    <a:srgbClr val="432DD7"/>
                  </a:solidFill>
                  <a:latin typeface="Segoe UI"/>
                  <a:ea typeface="Segoe UI"/>
                  <a:cs typeface="Segoe UI"/>
                  <a:sym typeface="Segoe UI"/>
                </a:defRPr>
              </a:lvl1pPr>
            </a:lstStyle>
            <a:p>
              <a:r>
                <a:t>4</a:t>
              </a:r>
            </a:p>
          </p:txBody>
        </p:sp>
      </p:grpSp>
      <p:sp>
        <p:nvSpPr>
          <p:cNvPr id="375" name="TextBox 16"/>
          <p:cNvSpPr txBox="1"/>
          <p:nvPr/>
        </p:nvSpPr>
        <p:spPr>
          <a:xfrm>
            <a:off x="8458200" y="2240279"/>
            <a:ext cx="320040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100">
                <a:solidFill>
                  <a:srgbClr val="45556C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CRUD (ghi: ADMIN)</a:t>
            </a:r>
          </a:p>
        </p:txBody>
      </p:sp>
      <p:sp>
        <p:nvSpPr>
          <p:cNvPr id="376" name="Rounded Rectangle 17"/>
          <p:cNvSpPr/>
          <p:nvPr/>
        </p:nvSpPr>
        <p:spPr>
          <a:xfrm>
            <a:off x="640080" y="2907792"/>
            <a:ext cx="3611880" cy="98755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77" name="TextBox 18"/>
          <p:cNvSpPr txBox="1"/>
          <p:nvPr/>
        </p:nvSpPr>
        <p:spPr>
          <a:xfrm>
            <a:off x="868680" y="3026664"/>
            <a:ext cx="237744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400" b="1">
                <a:solidFill>
                  <a:srgbClr val="432DD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/sections &amp; lessons</a:t>
            </a:r>
          </a:p>
        </p:txBody>
      </p:sp>
      <p:grpSp>
        <p:nvGrpSpPr>
          <p:cNvPr id="380" name="Rounded Rectangle 19"/>
          <p:cNvGrpSpPr/>
          <p:nvPr/>
        </p:nvGrpSpPr>
        <p:grpSpPr>
          <a:xfrm>
            <a:off x="3520440" y="3054095"/>
            <a:ext cx="502921" cy="292609"/>
            <a:chOff x="0" y="0"/>
            <a:chExt cx="502919" cy="292608"/>
          </a:xfrm>
        </p:grpSpPr>
        <p:sp>
          <p:nvSpPr>
            <p:cNvPr id="378" name="Rounded Rectangle"/>
            <p:cNvSpPr/>
            <p:nvPr/>
          </p:nvSpPr>
          <p:spPr>
            <a:xfrm>
              <a:off x="0" y="0"/>
              <a:ext cx="502920" cy="292609"/>
            </a:xfrm>
            <a:prstGeom prst="roundRect">
              <a:avLst>
                <a:gd name="adj" fmla="val 50000"/>
              </a:avLst>
            </a:prstGeom>
            <a:solidFill>
              <a:srgbClr val="E0E7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79" name="6"/>
            <p:cNvSpPr txBox="1"/>
            <p:nvPr/>
          </p:nvSpPr>
          <p:spPr>
            <a:xfrm>
              <a:off x="187959" y="51054"/>
              <a:ext cx="127001" cy="190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200" b="1">
                  <a:solidFill>
                    <a:srgbClr val="432DD7"/>
                  </a:solidFill>
                  <a:latin typeface="Segoe UI"/>
                  <a:ea typeface="Segoe UI"/>
                  <a:cs typeface="Segoe UI"/>
                  <a:sym typeface="Segoe UI"/>
                </a:defRPr>
              </a:lvl1pPr>
            </a:lstStyle>
            <a:p>
              <a:r>
                <a:t>6</a:t>
              </a:r>
            </a:p>
          </p:txBody>
        </p:sp>
      </p:grpSp>
      <p:sp>
        <p:nvSpPr>
          <p:cNvPr id="381" name="TextBox 20"/>
          <p:cNvSpPr txBox="1"/>
          <p:nvPr/>
        </p:nvSpPr>
        <p:spPr>
          <a:xfrm>
            <a:off x="868680" y="3410711"/>
            <a:ext cx="32004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100">
                <a:solidFill>
                  <a:srgbClr val="45556C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soạn chương trình học</a:t>
            </a:r>
          </a:p>
        </p:txBody>
      </p:sp>
      <p:sp>
        <p:nvSpPr>
          <p:cNvPr id="382" name="Rounded Rectangle 21"/>
          <p:cNvSpPr/>
          <p:nvPr/>
        </p:nvSpPr>
        <p:spPr>
          <a:xfrm>
            <a:off x="4434840" y="2907792"/>
            <a:ext cx="3611881" cy="98755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83" name="TextBox 22"/>
          <p:cNvSpPr txBox="1"/>
          <p:nvPr/>
        </p:nvSpPr>
        <p:spPr>
          <a:xfrm>
            <a:off x="4663440" y="3026664"/>
            <a:ext cx="237744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400" b="1">
                <a:solidFill>
                  <a:srgbClr val="432DD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/enrollments</a:t>
            </a:r>
          </a:p>
        </p:txBody>
      </p:sp>
      <p:grpSp>
        <p:nvGrpSpPr>
          <p:cNvPr id="386" name="Rounded Rectangle 23"/>
          <p:cNvGrpSpPr/>
          <p:nvPr/>
        </p:nvGrpSpPr>
        <p:grpSpPr>
          <a:xfrm>
            <a:off x="7315200" y="3054095"/>
            <a:ext cx="502920" cy="292609"/>
            <a:chOff x="0" y="0"/>
            <a:chExt cx="502919" cy="292608"/>
          </a:xfrm>
        </p:grpSpPr>
        <p:sp>
          <p:nvSpPr>
            <p:cNvPr id="384" name="Rounded Rectangle"/>
            <p:cNvSpPr/>
            <p:nvPr/>
          </p:nvSpPr>
          <p:spPr>
            <a:xfrm>
              <a:off x="0" y="0"/>
              <a:ext cx="502920" cy="292609"/>
            </a:xfrm>
            <a:prstGeom prst="roundRect">
              <a:avLst>
                <a:gd name="adj" fmla="val 50000"/>
              </a:avLst>
            </a:prstGeom>
            <a:solidFill>
              <a:srgbClr val="E0E7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85" name="3"/>
            <p:cNvSpPr txBox="1"/>
            <p:nvPr/>
          </p:nvSpPr>
          <p:spPr>
            <a:xfrm>
              <a:off x="187959" y="51054"/>
              <a:ext cx="127001" cy="190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200" b="1">
                  <a:solidFill>
                    <a:srgbClr val="432DD7"/>
                  </a:solidFill>
                  <a:latin typeface="Segoe UI"/>
                  <a:ea typeface="Segoe UI"/>
                  <a:cs typeface="Segoe UI"/>
                  <a:sym typeface="Segoe UI"/>
                </a:defRPr>
              </a:lvl1pPr>
            </a:lstStyle>
            <a:p>
              <a:r>
                <a:t>3</a:t>
              </a:r>
            </a:p>
          </p:txBody>
        </p:sp>
      </p:grpSp>
      <p:sp>
        <p:nvSpPr>
          <p:cNvPr id="387" name="TextBox 24"/>
          <p:cNvSpPr txBox="1"/>
          <p:nvPr/>
        </p:nvSpPr>
        <p:spPr>
          <a:xfrm>
            <a:off x="4663440" y="3410711"/>
            <a:ext cx="32004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100">
                <a:solidFill>
                  <a:srgbClr val="45556C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ghi danh · kiểm tra</a:t>
            </a:r>
          </a:p>
        </p:txBody>
      </p:sp>
      <p:sp>
        <p:nvSpPr>
          <p:cNvPr id="388" name="Rounded Rectangle 25"/>
          <p:cNvSpPr/>
          <p:nvPr/>
        </p:nvSpPr>
        <p:spPr>
          <a:xfrm>
            <a:off x="8229600" y="2907792"/>
            <a:ext cx="3611880" cy="98755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89" name="TextBox 26"/>
          <p:cNvSpPr txBox="1"/>
          <p:nvPr/>
        </p:nvSpPr>
        <p:spPr>
          <a:xfrm>
            <a:off x="8458200" y="3026664"/>
            <a:ext cx="237744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400" b="1">
                <a:solidFill>
                  <a:srgbClr val="432DD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/progress</a:t>
            </a:r>
          </a:p>
        </p:txBody>
      </p:sp>
      <p:grpSp>
        <p:nvGrpSpPr>
          <p:cNvPr id="392" name="Rounded Rectangle 27"/>
          <p:cNvGrpSpPr/>
          <p:nvPr/>
        </p:nvGrpSpPr>
        <p:grpSpPr>
          <a:xfrm>
            <a:off x="11109959" y="3054095"/>
            <a:ext cx="502921" cy="292609"/>
            <a:chOff x="0" y="0"/>
            <a:chExt cx="502919" cy="292608"/>
          </a:xfrm>
        </p:grpSpPr>
        <p:sp>
          <p:nvSpPr>
            <p:cNvPr id="390" name="Rounded Rectangle"/>
            <p:cNvSpPr/>
            <p:nvPr/>
          </p:nvSpPr>
          <p:spPr>
            <a:xfrm>
              <a:off x="0" y="0"/>
              <a:ext cx="502920" cy="292609"/>
            </a:xfrm>
            <a:prstGeom prst="roundRect">
              <a:avLst>
                <a:gd name="adj" fmla="val 50000"/>
              </a:avLst>
            </a:prstGeom>
            <a:solidFill>
              <a:srgbClr val="E0E7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91" name="3"/>
            <p:cNvSpPr txBox="1"/>
            <p:nvPr/>
          </p:nvSpPr>
          <p:spPr>
            <a:xfrm>
              <a:off x="187959" y="51054"/>
              <a:ext cx="127001" cy="190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200" b="1">
                  <a:solidFill>
                    <a:srgbClr val="432DD7"/>
                  </a:solidFill>
                  <a:latin typeface="Segoe UI"/>
                  <a:ea typeface="Segoe UI"/>
                  <a:cs typeface="Segoe UI"/>
                  <a:sym typeface="Segoe UI"/>
                </a:defRPr>
              </a:lvl1pPr>
            </a:lstStyle>
            <a:p>
              <a:r>
                <a:t>3</a:t>
              </a:r>
            </a:p>
          </p:txBody>
        </p:sp>
      </p:grpSp>
      <p:sp>
        <p:nvSpPr>
          <p:cNvPr id="393" name="TextBox 28"/>
          <p:cNvSpPr txBox="1"/>
          <p:nvPr/>
        </p:nvSpPr>
        <p:spPr>
          <a:xfrm>
            <a:off x="8458200" y="3410711"/>
            <a:ext cx="320040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100">
                <a:solidFill>
                  <a:srgbClr val="45556C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complete · position · completed</a:t>
            </a:r>
          </a:p>
        </p:txBody>
      </p:sp>
      <p:sp>
        <p:nvSpPr>
          <p:cNvPr id="394" name="Rounded Rectangle 29"/>
          <p:cNvSpPr/>
          <p:nvPr/>
        </p:nvSpPr>
        <p:spPr>
          <a:xfrm>
            <a:off x="640080" y="4078223"/>
            <a:ext cx="3611880" cy="98755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95" name="TextBox 30"/>
          <p:cNvSpPr txBox="1"/>
          <p:nvPr/>
        </p:nvSpPr>
        <p:spPr>
          <a:xfrm>
            <a:off x="868680" y="4197096"/>
            <a:ext cx="237744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400" b="1">
                <a:solidFill>
                  <a:srgbClr val="432DD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/payments</a:t>
            </a:r>
          </a:p>
        </p:txBody>
      </p:sp>
      <p:grpSp>
        <p:nvGrpSpPr>
          <p:cNvPr id="398" name="Rounded Rectangle 31"/>
          <p:cNvGrpSpPr/>
          <p:nvPr/>
        </p:nvGrpSpPr>
        <p:grpSpPr>
          <a:xfrm>
            <a:off x="3520440" y="4224528"/>
            <a:ext cx="502921" cy="292609"/>
            <a:chOff x="0" y="0"/>
            <a:chExt cx="502919" cy="292608"/>
          </a:xfrm>
        </p:grpSpPr>
        <p:sp>
          <p:nvSpPr>
            <p:cNvPr id="396" name="Rounded Rectangle"/>
            <p:cNvSpPr/>
            <p:nvPr/>
          </p:nvSpPr>
          <p:spPr>
            <a:xfrm>
              <a:off x="0" y="0"/>
              <a:ext cx="502920" cy="292609"/>
            </a:xfrm>
            <a:prstGeom prst="roundRect">
              <a:avLst>
                <a:gd name="adj" fmla="val 50000"/>
              </a:avLst>
            </a:prstGeom>
            <a:solidFill>
              <a:srgbClr val="E0E7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97" name="4"/>
            <p:cNvSpPr txBox="1"/>
            <p:nvPr/>
          </p:nvSpPr>
          <p:spPr>
            <a:xfrm>
              <a:off x="187959" y="51054"/>
              <a:ext cx="127001" cy="190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200" b="1">
                  <a:solidFill>
                    <a:srgbClr val="432DD7"/>
                  </a:solidFill>
                  <a:latin typeface="Segoe UI"/>
                  <a:ea typeface="Segoe UI"/>
                  <a:cs typeface="Segoe UI"/>
                  <a:sym typeface="Segoe UI"/>
                </a:defRPr>
              </a:lvl1pPr>
            </a:lstStyle>
            <a:p>
              <a:r>
                <a:t>4</a:t>
              </a:r>
            </a:p>
          </p:txBody>
        </p:sp>
      </p:grpSp>
      <p:sp>
        <p:nvSpPr>
          <p:cNvPr id="399" name="TextBox 32"/>
          <p:cNvSpPr txBox="1"/>
          <p:nvPr/>
        </p:nvSpPr>
        <p:spPr>
          <a:xfrm>
            <a:off x="868680" y="4581144"/>
            <a:ext cx="3200401" cy="165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100">
                <a:solidFill>
                  <a:srgbClr val="45556C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order PENDING → PAID (mô phỏng)</a:t>
            </a:r>
          </a:p>
        </p:txBody>
      </p:sp>
      <p:sp>
        <p:nvSpPr>
          <p:cNvPr id="400" name="Rounded Rectangle 33"/>
          <p:cNvSpPr/>
          <p:nvPr/>
        </p:nvSpPr>
        <p:spPr>
          <a:xfrm>
            <a:off x="4434840" y="4078223"/>
            <a:ext cx="3611881" cy="98755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01" name="TextBox 34"/>
          <p:cNvSpPr txBox="1"/>
          <p:nvPr/>
        </p:nvSpPr>
        <p:spPr>
          <a:xfrm>
            <a:off x="4663440" y="4197096"/>
            <a:ext cx="237744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400" b="1">
                <a:solidFill>
                  <a:srgbClr val="432DD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/users</a:t>
            </a:r>
          </a:p>
        </p:txBody>
      </p:sp>
      <p:grpSp>
        <p:nvGrpSpPr>
          <p:cNvPr id="404" name="Rounded Rectangle 35"/>
          <p:cNvGrpSpPr/>
          <p:nvPr/>
        </p:nvGrpSpPr>
        <p:grpSpPr>
          <a:xfrm>
            <a:off x="7315200" y="4224528"/>
            <a:ext cx="502920" cy="292609"/>
            <a:chOff x="0" y="0"/>
            <a:chExt cx="502919" cy="292608"/>
          </a:xfrm>
        </p:grpSpPr>
        <p:sp>
          <p:nvSpPr>
            <p:cNvPr id="402" name="Rounded Rectangle"/>
            <p:cNvSpPr/>
            <p:nvPr/>
          </p:nvSpPr>
          <p:spPr>
            <a:xfrm>
              <a:off x="0" y="0"/>
              <a:ext cx="502920" cy="292609"/>
            </a:xfrm>
            <a:prstGeom prst="roundRect">
              <a:avLst>
                <a:gd name="adj" fmla="val 50000"/>
              </a:avLst>
            </a:prstGeom>
            <a:solidFill>
              <a:srgbClr val="E0E7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03" name="6"/>
            <p:cNvSpPr txBox="1"/>
            <p:nvPr/>
          </p:nvSpPr>
          <p:spPr>
            <a:xfrm>
              <a:off x="187959" y="51054"/>
              <a:ext cx="127001" cy="190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200" b="1">
                  <a:solidFill>
                    <a:srgbClr val="432DD7"/>
                  </a:solidFill>
                  <a:latin typeface="Segoe UI"/>
                  <a:ea typeface="Segoe UI"/>
                  <a:cs typeface="Segoe UI"/>
                  <a:sym typeface="Segoe UI"/>
                </a:defRPr>
              </a:lvl1pPr>
            </a:lstStyle>
            <a:p>
              <a:r>
                <a:t>6</a:t>
              </a:r>
            </a:p>
          </p:txBody>
        </p:sp>
      </p:grpSp>
      <p:sp>
        <p:nvSpPr>
          <p:cNvPr id="405" name="TextBox 36"/>
          <p:cNvSpPr txBox="1"/>
          <p:nvPr/>
        </p:nvSpPr>
        <p:spPr>
          <a:xfrm>
            <a:off x="4663440" y="4581144"/>
            <a:ext cx="32004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100">
                <a:solidFill>
                  <a:srgbClr val="45556C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hồ sơ · admin quản trị</a:t>
            </a:r>
          </a:p>
        </p:txBody>
      </p:sp>
      <p:sp>
        <p:nvSpPr>
          <p:cNvPr id="406" name="Rounded Rectangle 37"/>
          <p:cNvSpPr/>
          <p:nvPr/>
        </p:nvSpPr>
        <p:spPr>
          <a:xfrm>
            <a:off x="8229600" y="4078223"/>
            <a:ext cx="3611880" cy="98755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07" name="TextBox 38"/>
          <p:cNvSpPr txBox="1"/>
          <p:nvPr/>
        </p:nvSpPr>
        <p:spPr>
          <a:xfrm>
            <a:off x="8458200" y="4197096"/>
            <a:ext cx="237744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400" b="1">
                <a:solidFill>
                  <a:srgbClr val="432DD7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/instructor</a:t>
            </a:r>
          </a:p>
        </p:txBody>
      </p:sp>
      <p:grpSp>
        <p:nvGrpSpPr>
          <p:cNvPr id="410" name="Rounded Rectangle 39"/>
          <p:cNvGrpSpPr/>
          <p:nvPr/>
        </p:nvGrpSpPr>
        <p:grpSpPr>
          <a:xfrm>
            <a:off x="11109959" y="4224528"/>
            <a:ext cx="502921" cy="292609"/>
            <a:chOff x="0" y="0"/>
            <a:chExt cx="502919" cy="292608"/>
          </a:xfrm>
        </p:grpSpPr>
        <p:sp>
          <p:nvSpPr>
            <p:cNvPr id="408" name="Rounded Rectangle"/>
            <p:cNvSpPr/>
            <p:nvPr/>
          </p:nvSpPr>
          <p:spPr>
            <a:xfrm>
              <a:off x="0" y="0"/>
              <a:ext cx="502920" cy="292609"/>
            </a:xfrm>
            <a:prstGeom prst="roundRect">
              <a:avLst>
                <a:gd name="adj" fmla="val 50000"/>
              </a:avLst>
            </a:prstGeom>
            <a:solidFill>
              <a:srgbClr val="E0E7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09" name="1"/>
            <p:cNvSpPr txBox="1"/>
            <p:nvPr/>
          </p:nvSpPr>
          <p:spPr>
            <a:xfrm>
              <a:off x="187959" y="51054"/>
              <a:ext cx="127001" cy="190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200" b="1">
                  <a:solidFill>
                    <a:srgbClr val="432DD7"/>
                  </a:solidFill>
                  <a:latin typeface="Segoe UI"/>
                  <a:ea typeface="Segoe UI"/>
                  <a:cs typeface="Segoe UI"/>
                  <a:sym typeface="Segoe UI"/>
                </a:defRPr>
              </a:lvl1pPr>
            </a:lstStyle>
            <a:p>
              <a:r>
                <a:t>1</a:t>
              </a:r>
            </a:p>
          </p:txBody>
        </p:sp>
      </p:grpSp>
      <p:sp>
        <p:nvSpPr>
          <p:cNvPr id="411" name="TextBox 40"/>
          <p:cNvSpPr txBox="1"/>
          <p:nvPr/>
        </p:nvSpPr>
        <p:spPr>
          <a:xfrm>
            <a:off x="8458200" y="4581144"/>
            <a:ext cx="320040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100">
                <a:solidFill>
                  <a:srgbClr val="45556C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stats: KPI + chuỗi 6 tháng</a:t>
            </a:r>
          </a:p>
        </p:txBody>
      </p:sp>
      <p:sp>
        <p:nvSpPr>
          <p:cNvPr id="412" name="Rounded Rectangle 41"/>
          <p:cNvSpPr/>
          <p:nvPr/>
        </p:nvSpPr>
        <p:spPr>
          <a:xfrm>
            <a:off x="640080" y="5440679"/>
            <a:ext cx="10972801" cy="685801"/>
          </a:xfrm>
          <a:prstGeom prst="roundRect">
            <a:avLst>
              <a:gd name="adj" fmla="val 12000"/>
            </a:avLst>
          </a:prstGeom>
          <a:solidFill>
            <a:srgbClr val="0F172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13" name="TextBox 42"/>
          <p:cNvSpPr txBox="1"/>
          <p:nvPr/>
        </p:nvSpPr>
        <p:spPr>
          <a:xfrm>
            <a:off x="914400" y="5614415"/>
            <a:ext cx="10424160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300">
                <a:solidFill>
                  <a:srgbClr val="90A1B9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Chuẩn REST:  </a:t>
            </a:r>
            <a:r>
              <a:rPr>
                <a:solidFill>
                  <a:srgbClr val="E2E8F0"/>
                </a:solidFill>
              </a:rPr>
              <a:t>tài nguyên số nhiều · động từ HTTP · status code đúng nghĩa (400/401/403/404/409) · tiền tố /api/v1 · tài liệu tự sinh Swagger UI</a:t>
            </a:r>
          </a:p>
        </p:txBody>
      </p:sp>
      <p:sp>
        <p:nvSpPr>
          <p:cNvPr id="414" name="Rectangle 43"/>
          <p:cNvSpPr/>
          <p:nvPr/>
        </p:nvSpPr>
        <p:spPr>
          <a:xfrm>
            <a:off x="548639" y="6382511"/>
            <a:ext cx="11094417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15" name="TextBox 44"/>
          <p:cNvSpPr txBox="1"/>
          <p:nvPr/>
        </p:nvSpPr>
        <p:spPr>
          <a:xfrm>
            <a:off x="548640" y="6455664"/>
            <a:ext cx="54864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100" b="1">
                <a:solidFill>
                  <a:srgbClr val="4F39F6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LMS</a:t>
            </a:r>
            <a:r>
              <a:rPr sz="1000" b="0">
                <a:solidFill>
                  <a:srgbClr val="62748E"/>
                </a:solidFill>
              </a:rPr>
              <a:t>  ·  Đồ án Lập trình Web (Java)</a:t>
            </a:r>
          </a:p>
        </p:txBody>
      </p:sp>
      <p:sp>
        <p:nvSpPr>
          <p:cNvPr id="416" name="TextBox 45"/>
          <p:cNvSpPr txBox="1"/>
          <p:nvPr/>
        </p:nvSpPr>
        <p:spPr>
          <a:xfrm>
            <a:off x="8899855" y="6455664"/>
            <a:ext cx="27432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0A1B9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API   12 / 22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19" name="TextBox 2"/>
          <p:cNvSpPr txBox="1"/>
          <p:nvPr/>
        </p:nvSpPr>
        <p:spPr>
          <a:xfrm>
            <a:off x="548640" y="384047"/>
            <a:ext cx="1097280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300" b="1">
                <a:solidFill>
                  <a:srgbClr val="4F39F6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06 · FRONTEND</a:t>
            </a:r>
          </a:p>
        </p:txBody>
      </p:sp>
      <p:sp>
        <p:nvSpPr>
          <p:cNvPr id="420" name="TextBox 3"/>
          <p:cNvSpPr txBox="1"/>
          <p:nvPr/>
        </p:nvSpPr>
        <p:spPr>
          <a:xfrm>
            <a:off x="548639" y="676655"/>
            <a:ext cx="11064242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3000" b="1">
                <a:solidFill>
                  <a:srgbClr val="0F172B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SPA React 19 — kiến trúc phía client</a:t>
            </a:r>
          </a:p>
        </p:txBody>
      </p:sp>
      <p:sp>
        <p:nvSpPr>
          <p:cNvPr id="421" name="Rounded Rectangle 4"/>
          <p:cNvSpPr/>
          <p:nvPr/>
        </p:nvSpPr>
        <p:spPr>
          <a:xfrm>
            <a:off x="576072" y="1389888"/>
            <a:ext cx="502920" cy="50801"/>
          </a:xfrm>
          <a:prstGeom prst="roundRect">
            <a:avLst>
              <a:gd name="adj" fmla="val 50000"/>
            </a:avLst>
          </a:prstGeom>
          <a:solidFill>
            <a:srgbClr val="4F39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22" name="TextBox 5"/>
          <p:cNvSpPr txBox="1"/>
          <p:nvPr/>
        </p:nvSpPr>
        <p:spPr>
          <a:xfrm>
            <a:off x="640079" y="1691639"/>
            <a:ext cx="5394962" cy="284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1200"/>
              </a:spcBef>
              <a:defRPr sz="1300" b="1">
                <a:solidFill>
                  <a:srgbClr val="4F39F6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•  </a:t>
            </a:r>
            <a:r>
              <a:rPr>
                <a:solidFill>
                  <a:srgbClr val="0F172B"/>
                </a:solidFill>
              </a:rPr>
              <a:t>HashRouter (/#/…): </a:t>
            </a:r>
            <a:r>
              <a:rPr b="0">
                <a:solidFill>
                  <a:srgbClr val="45556C"/>
                </a:solidFill>
              </a:rPr>
              <a:t>SPA chạy trên GitHub Pages không cần rewrite máy chủ — 14 route, 3 cấp bảo vệ bằng ProtectedRoute.</a:t>
            </a:r>
          </a:p>
          <a:p>
            <a:pPr>
              <a:spcBef>
                <a:spcPts val="1200"/>
              </a:spcBef>
              <a:defRPr sz="1300" b="1">
                <a:solidFill>
                  <a:srgbClr val="4F39F6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•  </a:t>
            </a:r>
            <a:r>
              <a:rPr>
                <a:solidFill>
                  <a:srgbClr val="0F172B"/>
                </a:solidFill>
              </a:rPr>
              <a:t>TanStack Query: </a:t>
            </a:r>
            <a:r>
              <a:rPr b="0">
                <a:solidFill>
                  <a:srgbClr val="45556C"/>
                </a:solidFill>
              </a:rPr>
              <a:t>cache + invalidation cho server state; useInfiniteQuery cho “Load more” danh mục.</a:t>
            </a:r>
          </a:p>
          <a:p>
            <a:pPr>
              <a:spcBef>
                <a:spcPts val="1200"/>
              </a:spcBef>
              <a:defRPr sz="1300" b="1">
                <a:solidFill>
                  <a:srgbClr val="4F39F6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•  </a:t>
            </a:r>
            <a:r>
              <a:rPr>
                <a:solidFill>
                  <a:srgbClr val="0F172B"/>
                </a:solidFill>
              </a:rPr>
              <a:t>Zustand + localStorage: </a:t>
            </a:r>
            <a:r>
              <a:rPr b="0">
                <a:solidFill>
                  <a:srgbClr val="45556C"/>
                </a:solidFill>
              </a:rPr>
              <a:t>phiên đăng nhập; khởi động re-validate qua GET /users/me.</a:t>
            </a:r>
          </a:p>
          <a:p>
            <a:pPr>
              <a:spcBef>
                <a:spcPts val="1200"/>
              </a:spcBef>
              <a:defRPr sz="1300" b="1">
                <a:solidFill>
                  <a:srgbClr val="4F39F6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•  </a:t>
            </a:r>
            <a:r>
              <a:rPr>
                <a:solidFill>
                  <a:srgbClr val="0F172B"/>
                </a:solidFill>
              </a:rPr>
              <a:t>axios interceptor: </a:t>
            </a:r>
            <a:r>
              <a:rPr b="0">
                <a:solidFill>
                  <a:srgbClr val="45556C"/>
                </a:solidFill>
              </a:rPr>
              <a:t>tự đính Bearer token; gặp 401 tự gọi /auth/refresh (single-flight) rồi phát lại request.</a:t>
            </a:r>
          </a:p>
          <a:p>
            <a:pPr>
              <a:spcBef>
                <a:spcPts val="1200"/>
              </a:spcBef>
              <a:defRPr sz="1300" b="1">
                <a:solidFill>
                  <a:srgbClr val="4F39F6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•  </a:t>
            </a:r>
            <a:r>
              <a:rPr>
                <a:solidFill>
                  <a:srgbClr val="0F172B"/>
                </a:solidFill>
              </a:rPr>
              <a:t>Mock server contract-first: </a:t>
            </a:r>
            <a:r>
              <a:rPr b="0">
                <a:solidFill>
                  <a:srgbClr val="45556C"/>
                </a:solidFill>
              </a:rPr>
              <a:t>Express giả lập 33 endpoint đúng DTO backend — dev/demo không cần CSDL.</a:t>
            </a:r>
          </a:p>
        </p:txBody>
      </p:sp>
      <p:sp>
        <p:nvSpPr>
          <p:cNvPr id="423" name="Rounded Rectangle 6"/>
          <p:cNvSpPr/>
          <p:nvPr/>
        </p:nvSpPr>
        <p:spPr>
          <a:xfrm>
            <a:off x="6300215" y="1773935"/>
            <a:ext cx="5321809" cy="33672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424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355079" y="1828800"/>
            <a:ext cx="5212081" cy="3257550"/>
          </a:xfrm>
          <a:prstGeom prst="rect">
            <a:avLst/>
          </a:prstGeom>
          <a:ln w="12700">
            <a:miter lim="400000"/>
          </a:ln>
        </p:spPr>
      </p:pic>
      <p:sp>
        <p:nvSpPr>
          <p:cNvPr id="425" name="TextBox 8"/>
          <p:cNvSpPr txBox="1"/>
          <p:nvPr/>
        </p:nvSpPr>
        <p:spPr>
          <a:xfrm>
            <a:off x="6355079" y="5196078"/>
            <a:ext cx="521208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2748E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Trang danh mục — search, filter chip, sort, infinite scroll</a:t>
            </a:r>
          </a:p>
        </p:txBody>
      </p:sp>
      <p:sp>
        <p:nvSpPr>
          <p:cNvPr id="426" name="Rectangle 9"/>
          <p:cNvSpPr/>
          <p:nvPr/>
        </p:nvSpPr>
        <p:spPr>
          <a:xfrm>
            <a:off x="548639" y="6382511"/>
            <a:ext cx="11094417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27" name="TextBox 10"/>
          <p:cNvSpPr txBox="1"/>
          <p:nvPr/>
        </p:nvSpPr>
        <p:spPr>
          <a:xfrm>
            <a:off x="548640" y="6455664"/>
            <a:ext cx="54864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100" b="1">
                <a:solidFill>
                  <a:srgbClr val="4F39F6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LMS</a:t>
            </a:r>
            <a:r>
              <a:rPr sz="1000" b="0">
                <a:solidFill>
                  <a:srgbClr val="62748E"/>
                </a:solidFill>
              </a:rPr>
              <a:t>  ·  Đồ án Lập trình Web (Java)</a:t>
            </a:r>
          </a:p>
        </p:txBody>
      </p:sp>
      <p:sp>
        <p:nvSpPr>
          <p:cNvPr id="428" name="TextBox 11"/>
          <p:cNvSpPr txBox="1"/>
          <p:nvPr/>
        </p:nvSpPr>
        <p:spPr>
          <a:xfrm>
            <a:off x="8899855" y="6455664"/>
            <a:ext cx="27432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0A1B9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Frontend   13 / 22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31" name="TextBox 2"/>
          <p:cNvSpPr txBox="1"/>
          <p:nvPr/>
        </p:nvSpPr>
        <p:spPr>
          <a:xfrm>
            <a:off x="548640" y="384047"/>
            <a:ext cx="1097280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300" b="1">
                <a:solidFill>
                  <a:srgbClr val="4F39F6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06 · FRONTEND</a:t>
            </a:r>
          </a:p>
        </p:txBody>
      </p:sp>
      <p:sp>
        <p:nvSpPr>
          <p:cNvPr id="432" name="TextBox 3"/>
          <p:cNvSpPr txBox="1"/>
          <p:nvPr/>
        </p:nvSpPr>
        <p:spPr>
          <a:xfrm>
            <a:off x="548639" y="676655"/>
            <a:ext cx="11064242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3000" b="1">
                <a:solidFill>
                  <a:srgbClr val="0F172B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Design system — semantic token (Tailwind v4)</a:t>
            </a:r>
          </a:p>
        </p:txBody>
      </p:sp>
      <p:sp>
        <p:nvSpPr>
          <p:cNvPr id="433" name="Rounded Rectangle 4"/>
          <p:cNvSpPr/>
          <p:nvPr/>
        </p:nvSpPr>
        <p:spPr>
          <a:xfrm>
            <a:off x="576072" y="1389888"/>
            <a:ext cx="502920" cy="50801"/>
          </a:xfrm>
          <a:prstGeom prst="roundRect">
            <a:avLst>
              <a:gd name="adj" fmla="val 50000"/>
            </a:avLst>
          </a:prstGeom>
          <a:solidFill>
            <a:srgbClr val="4F39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34" name="Rounded Rectangle 5"/>
          <p:cNvSpPr/>
          <p:nvPr/>
        </p:nvSpPr>
        <p:spPr>
          <a:xfrm>
            <a:off x="640080" y="1691639"/>
            <a:ext cx="6035041" cy="438912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35" name="TextBox 6"/>
          <p:cNvSpPr txBox="1"/>
          <p:nvPr/>
        </p:nvSpPr>
        <p:spPr>
          <a:xfrm>
            <a:off x="914400" y="1874518"/>
            <a:ext cx="548640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400" b="1">
                <a:solidFill>
                  <a:srgbClr val="0F172B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@theme trong src/index.css — nguồn màu duy nhất</a:t>
            </a:r>
          </a:p>
        </p:txBody>
      </p:sp>
      <p:sp>
        <p:nvSpPr>
          <p:cNvPr id="436" name="Rounded Rectangle 7"/>
          <p:cNvSpPr/>
          <p:nvPr/>
        </p:nvSpPr>
        <p:spPr>
          <a:xfrm>
            <a:off x="914400" y="2377439"/>
            <a:ext cx="566928" cy="384049"/>
          </a:xfrm>
          <a:prstGeom prst="roundRect">
            <a:avLst>
              <a:gd name="adj" fmla="val 25000"/>
            </a:avLst>
          </a:prstGeom>
          <a:solidFill>
            <a:srgbClr val="4F39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37" name="TextBox 8"/>
          <p:cNvSpPr txBox="1"/>
          <p:nvPr/>
        </p:nvSpPr>
        <p:spPr>
          <a:xfrm>
            <a:off x="1645920" y="2359151"/>
            <a:ext cx="192024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300" b="1">
                <a:solidFill>
                  <a:srgbClr val="0F172B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primary-*</a:t>
            </a:r>
          </a:p>
        </p:txBody>
      </p:sp>
      <p:sp>
        <p:nvSpPr>
          <p:cNvPr id="438" name="TextBox 9"/>
          <p:cNvSpPr txBox="1"/>
          <p:nvPr/>
        </p:nvSpPr>
        <p:spPr>
          <a:xfrm>
            <a:off x="1645920" y="2569464"/>
            <a:ext cx="1920241" cy="165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90A1B9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→ indigo</a:t>
            </a:r>
          </a:p>
        </p:txBody>
      </p:sp>
      <p:sp>
        <p:nvSpPr>
          <p:cNvPr id="439" name="TextBox 10"/>
          <p:cNvSpPr txBox="1"/>
          <p:nvPr/>
        </p:nvSpPr>
        <p:spPr>
          <a:xfrm>
            <a:off x="3566159" y="2432304"/>
            <a:ext cx="292608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45556C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thương hiệu, nút, liên kết, focus</a:t>
            </a:r>
          </a:p>
        </p:txBody>
      </p:sp>
      <p:sp>
        <p:nvSpPr>
          <p:cNvPr id="440" name="Rounded Rectangle 11"/>
          <p:cNvSpPr/>
          <p:nvPr/>
        </p:nvSpPr>
        <p:spPr>
          <a:xfrm>
            <a:off x="914400" y="2953511"/>
            <a:ext cx="566928" cy="384049"/>
          </a:xfrm>
          <a:prstGeom prst="roundRect">
            <a:avLst>
              <a:gd name="adj" fmla="val 25000"/>
            </a:avLst>
          </a:prstGeom>
          <a:solidFill>
            <a:srgbClr val="00996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41" name="TextBox 12"/>
          <p:cNvSpPr txBox="1"/>
          <p:nvPr/>
        </p:nvSpPr>
        <p:spPr>
          <a:xfrm>
            <a:off x="1645920" y="2935223"/>
            <a:ext cx="192024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300" b="1">
                <a:solidFill>
                  <a:srgbClr val="0F172B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success-*</a:t>
            </a:r>
          </a:p>
        </p:txBody>
      </p:sp>
      <p:sp>
        <p:nvSpPr>
          <p:cNvPr id="442" name="TextBox 13"/>
          <p:cNvSpPr txBox="1"/>
          <p:nvPr/>
        </p:nvSpPr>
        <p:spPr>
          <a:xfrm>
            <a:off x="1645920" y="3145535"/>
            <a:ext cx="1920241" cy="1652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90A1B9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→ emerald</a:t>
            </a:r>
          </a:p>
        </p:txBody>
      </p:sp>
      <p:sp>
        <p:nvSpPr>
          <p:cNvPr id="443" name="TextBox 14"/>
          <p:cNvSpPr txBox="1"/>
          <p:nvPr/>
        </p:nvSpPr>
        <p:spPr>
          <a:xfrm>
            <a:off x="3566159" y="3008376"/>
            <a:ext cx="292608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45556C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hoàn thành · PUBLISHED · Free</a:t>
            </a:r>
          </a:p>
        </p:txBody>
      </p:sp>
      <p:sp>
        <p:nvSpPr>
          <p:cNvPr id="444" name="Rounded Rectangle 15"/>
          <p:cNvSpPr/>
          <p:nvPr/>
        </p:nvSpPr>
        <p:spPr>
          <a:xfrm>
            <a:off x="914400" y="3529584"/>
            <a:ext cx="566928" cy="384049"/>
          </a:xfrm>
          <a:prstGeom prst="roundRect">
            <a:avLst>
              <a:gd name="adj" fmla="val 25000"/>
            </a:avLst>
          </a:prstGeom>
          <a:solidFill>
            <a:srgbClr val="E7000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45" name="TextBox 16"/>
          <p:cNvSpPr txBox="1"/>
          <p:nvPr/>
        </p:nvSpPr>
        <p:spPr>
          <a:xfrm>
            <a:off x="1645920" y="3511296"/>
            <a:ext cx="192024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300" b="1">
                <a:solidFill>
                  <a:srgbClr val="0F172B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danger-*</a:t>
            </a:r>
          </a:p>
        </p:txBody>
      </p:sp>
      <p:sp>
        <p:nvSpPr>
          <p:cNvPr id="446" name="TextBox 17"/>
          <p:cNvSpPr txBox="1"/>
          <p:nvPr/>
        </p:nvSpPr>
        <p:spPr>
          <a:xfrm>
            <a:off x="1645920" y="3721608"/>
            <a:ext cx="1920241" cy="165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90A1B9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→ red</a:t>
            </a:r>
          </a:p>
        </p:txBody>
      </p:sp>
      <p:sp>
        <p:nvSpPr>
          <p:cNvPr id="447" name="TextBox 18"/>
          <p:cNvSpPr txBox="1"/>
          <p:nvPr/>
        </p:nvSpPr>
        <p:spPr>
          <a:xfrm>
            <a:off x="3566159" y="3584447"/>
            <a:ext cx="292608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45556C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lỗi, hành động phá hủy</a:t>
            </a:r>
          </a:p>
        </p:txBody>
      </p:sp>
      <p:sp>
        <p:nvSpPr>
          <p:cNvPr id="448" name="Rounded Rectangle 19"/>
          <p:cNvSpPr/>
          <p:nvPr/>
        </p:nvSpPr>
        <p:spPr>
          <a:xfrm>
            <a:off x="914400" y="4105655"/>
            <a:ext cx="566928" cy="384049"/>
          </a:xfrm>
          <a:prstGeom prst="roundRect">
            <a:avLst>
              <a:gd name="adj" fmla="val 25000"/>
            </a:avLst>
          </a:prstGeom>
          <a:solidFill>
            <a:srgbClr val="E171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49" name="TextBox 20"/>
          <p:cNvSpPr txBox="1"/>
          <p:nvPr/>
        </p:nvSpPr>
        <p:spPr>
          <a:xfrm>
            <a:off x="1645920" y="4087367"/>
            <a:ext cx="192024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300" b="1">
                <a:solidFill>
                  <a:srgbClr val="0F172B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warning-*</a:t>
            </a:r>
          </a:p>
        </p:txBody>
      </p:sp>
      <p:sp>
        <p:nvSpPr>
          <p:cNvPr id="450" name="TextBox 21"/>
          <p:cNvSpPr txBox="1"/>
          <p:nvPr/>
        </p:nvSpPr>
        <p:spPr>
          <a:xfrm>
            <a:off x="1645920" y="4297679"/>
            <a:ext cx="1920241" cy="1652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90A1B9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→ amber</a:t>
            </a:r>
          </a:p>
        </p:txBody>
      </p:sp>
      <p:sp>
        <p:nvSpPr>
          <p:cNvPr id="451" name="TextBox 22"/>
          <p:cNvSpPr txBox="1"/>
          <p:nvPr/>
        </p:nvSpPr>
        <p:spPr>
          <a:xfrm>
            <a:off x="3566159" y="4160520"/>
            <a:ext cx="292608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45556C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DRAFT, cảnh báo thanh toán</a:t>
            </a:r>
          </a:p>
        </p:txBody>
      </p:sp>
      <p:sp>
        <p:nvSpPr>
          <p:cNvPr id="452" name="Rounded Rectangle 23"/>
          <p:cNvSpPr/>
          <p:nvPr/>
        </p:nvSpPr>
        <p:spPr>
          <a:xfrm>
            <a:off x="914400" y="4681728"/>
            <a:ext cx="566928" cy="384049"/>
          </a:xfrm>
          <a:prstGeom prst="roundRect">
            <a:avLst>
              <a:gd name="adj" fmla="val 25000"/>
            </a:avLst>
          </a:prstGeom>
          <a:solidFill>
            <a:srgbClr val="9810F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53" name="TextBox 24"/>
          <p:cNvSpPr txBox="1"/>
          <p:nvPr/>
        </p:nvSpPr>
        <p:spPr>
          <a:xfrm>
            <a:off x="1645920" y="4663440"/>
            <a:ext cx="192024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300" b="1">
                <a:solidFill>
                  <a:srgbClr val="0F172B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admin-*</a:t>
            </a:r>
          </a:p>
        </p:txBody>
      </p:sp>
      <p:sp>
        <p:nvSpPr>
          <p:cNvPr id="454" name="TextBox 25"/>
          <p:cNvSpPr txBox="1"/>
          <p:nvPr/>
        </p:nvSpPr>
        <p:spPr>
          <a:xfrm>
            <a:off x="1645920" y="4873752"/>
            <a:ext cx="1920241" cy="165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90A1B9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→ purple</a:t>
            </a:r>
          </a:p>
        </p:txBody>
      </p:sp>
      <p:sp>
        <p:nvSpPr>
          <p:cNvPr id="455" name="TextBox 26"/>
          <p:cNvSpPr txBox="1"/>
          <p:nvPr/>
        </p:nvSpPr>
        <p:spPr>
          <a:xfrm>
            <a:off x="3566159" y="4736591"/>
            <a:ext cx="292608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45556C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khu vực quản trị</a:t>
            </a:r>
          </a:p>
        </p:txBody>
      </p:sp>
      <p:sp>
        <p:nvSpPr>
          <p:cNvPr id="456" name="Rounded Rectangle 27"/>
          <p:cNvSpPr/>
          <p:nvPr/>
        </p:nvSpPr>
        <p:spPr>
          <a:xfrm>
            <a:off x="914400" y="5257800"/>
            <a:ext cx="566928" cy="384048"/>
          </a:xfrm>
          <a:prstGeom prst="roundRect">
            <a:avLst>
              <a:gd name="adj" fmla="val 25000"/>
            </a:avLst>
          </a:prstGeom>
          <a:solidFill>
            <a:srgbClr val="0F172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57" name="TextBox 28"/>
          <p:cNvSpPr txBox="1"/>
          <p:nvPr/>
        </p:nvSpPr>
        <p:spPr>
          <a:xfrm>
            <a:off x="1645920" y="5239511"/>
            <a:ext cx="192024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300" b="1">
                <a:solidFill>
                  <a:srgbClr val="0F172B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slate-*</a:t>
            </a:r>
          </a:p>
        </p:txBody>
      </p:sp>
      <p:sp>
        <p:nvSpPr>
          <p:cNvPr id="458" name="TextBox 29"/>
          <p:cNvSpPr txBox="1"/>
          <p:nvPr/>
        </p:nvSpPr>
        <p:spPr>
          <a:xfrm>
            <a:off x="1645920" y="5449823"/>
            <a:ext cx="1920241" cy="1652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90A1B9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→ slate</a:t>
            </a:r>
          </a:p>
        </p:txBody>
      </p:sp>
      <p:sp>
        <p:nvSpPr>
          <p:cNvPr id="459" name="TextBox 30"/>
          <p:cNvSpPr txBox="1"/>
          <p:nvPr/>
        </p:nvSpPr>
        <p:spPr>
          <a:xfrm>
            <a:off x="3566159" y="5312664"/>
            <a:ext cx="292608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45556C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nền · viền · chữ (trung tính)</a:t>
            </a:r>
          </a:p>
        </p:txBody>
      </p:sp>
      <p:sp>
        <p:nvSpPr>
          <p:cNvPr id="460" name="Rounded Rectangle 31"/>
          <p:cNvSpPr/>
          <p:nvPr/>
        </p:nvSpPr>
        <p:spPr>
          <a:xfrm>
            <a:off x="6949440" y="1691639"/>
            <a:ext cx="4663441" cy="274320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61" name="TextBox 32"/>
          <p:cNvSpPr txBox="1"/>
          <p:nvPr/>
        </p:nvSpPr>
        <p:spPr>
          <a:xfrm>
            <a:off x="7223759" y="1874518"/>
            <a:ext cx="420624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400" b="1">
                <a:solidFill>
                  <a:srgbClr val="0F172B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Công thức UI tái dùng</a:t>
            </a:r>
          </a:p>
        </p:txBody>
      </p:sp>
      <p:sp>
        <p:nvSpPr>
          <p:cNvPr id="462" name="TextBox 33"/>
          <p:cNvSpPr txBox="1"/>
          <p:nvPr/>
        </p:nvSpPr>
        <p:spPr>
          <a:xfrm>
            <a:off x="7223759" y="2286000"/>
            <a:ext cx="4160521" cy="1993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100"/>
              </a:spcBef>
              <a:defRPr sz="1200" b="1">
                <a:solidFill>
                  <a:srgbClr val="0F172B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Card</a:t>
            </a:r>
          </a:p>
          <a:p>
            <a:pPr>
              <a:spcBef>
                <a:spcPts val="700"/>
              </a:spcBef>
              <a:defRPr sz="1000">
                <a:solidFill>
                  <a:srgbClr val="62748E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bg-white rounded-xl border border-slate-200</a:t>
            </a:r>
          </a:p>
          <a:p>
            <a:pPr>
              <a:spcBef>
                <a:spcPts val="100"/>
              </a:spcBef>
              <a:defRPr sz="1200" b="1">
                <a:solidFill>
                  <a:srgbClr val="0F172B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Nút chính</a:t>
            </a:r>
          </a:p>
          <a:p>
            <a:pPr>
              <a:spcBef>
                <a:spcPts val="700"/>
              </a:spcBef>
              <a:defRPr sz="1000">
                <a:solidFill>
                  <a:srgbClr val="62748E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bg-primary-600 hover:bg-primary-700 text-white rounded-lg</a:t>
            </a:r>
          </a:p>
          <a:p>
            <a:pPr>
              <a:spcBef>
                <a:spcPts val="100"/>
              </a:spcBef>
              <a:defRPr sz="1200" b="1">
                <a:solidFill>
                  <a:srgbClr val="0F172B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Chip lọc (pill)</a:t>
            </a:r>
          </a:p>
          <a:p>
            <a:pPr>
              <a:spcBef>
                <a:spcPts val="700"/>
              </a:spcBef>
              <a:defRPr sz="1000">
                <a:solidFill>
                  <a:srgbClr val="62748E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rounded-full · active: bg-primary-600 text-white</a:t>
            </a:r>
          </a:p>
          <a:p>
            <a:pPr>
              <a:spcBef>
                <a:spcPts val="100"/>
              </a:spcBef>
              <a:defRPr sz="1200" b="1">
                <a:solidFill>
                  <a:srgbClr val="0F172B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Badge trạng thái</a:t>
            </a:r>
          </a:p>
          <a:p>
            <a:pPr>
              <a:defRPr sz="1000">
                <a:solidFill>
                  <a:srgbClr val="62748E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bg-{color}-100 text-{color}-700 · PUBLISHED/DRAFT/ARCHIVED</a:t>
            </a:r>
          </a:p>
        </p:txBody>
      </p:sp>
      <p:sp>
        <p:nvSpPr>
          <p:cNvPr id="463" name="Rounded Rectangle 34"/>
          <p:cNvSpPr/>
          <p:nvPr/>
        </p:nvSpPr>
        <p:spPr>
          <a:xfrm>
            <a:off x="6949440" y="4617720"/>
            <a:ext cx="4663441" cy="1463041"/>
          </a:xfrm>
          <a:prstGeom prst="roundRect">
            <a:avLst>
              <a:gd name="adj" fmla="val 8000"/>
            </a:avLst>
          </a:prstGeom>
          <a:solidFill>
            <a:srgbClr val="EEF2FF"/>
          </a:solidFill>
          <a:ln w="12700">
            <a:solidFill>
              <a:srgbClr val="C6D2FF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64" name="TextBox 35"/>
          <p:cNvSpPr txBox="1"/>
          <p:nvPr/>
        </p:nvSpPr>
        <p:spPr>
          <a:xfrm>
            <a:off x="7223759" y="4800600"/>
            <a:ext cx="4160521" cy="6732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400"/>
              </a:spcBef>
              <a:defRPr sz="1300" b="1">
                <a:solidFill>
                  <a:srgbClr val="432DD7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Quy tắc: cấm palette thô trong component</a:t>
            </a:r>
          </a:p>
          <a:p>
            <a:pPr>
              <a:lnSpc>
                <a:spcPct val="120000"/>
              </a:lnSpc>
              <a:defRPr sz="1200">
                <a:solidFill>
                  <a:srgbClr val="45556C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Mọi màu đi qua token ngữ nghĩa → đổi nhận diện thương hiệu chỉ cần sửa 1 tệp index.css.</a:t>
            </a:r>
          </a:p>
        </p:txBody>
      </p:sp>
      <p:sp>
        <p:nvSpPr>
          <p:cNvPr id="465" name="Rectangle 36"/>
          <p:cNvSpPr/>
          <p:nvPr/>
        </p:nvSpPr>
        <p:spPr>
          <a:xfrm>
            <a:off x="548639" y="6382511"/>
            <a:ext cx="11094417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66" name="TextBox 37"/>
          <p:cNvSpPr txBox="1"/>
          <p:nvPr/>
        </p:nvSpPr>
        <p:spPr>
          <a:xfrm>
            <a:off x="548640" y="6455664"/>
            <a:ext cx="54864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100" b="1">
                <a:solidFill>
                  <a:srgbClr val="4F39F6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LMS</a:t>
            </a:r>
            <a:r>
              <a:rPr sz="1000" b="0">
                <a:solidFill>
                  <a:srgbClr val="62748E"/>
                </a:solidFill>
              </a:rPr>
              <a:t>  ·  Đồ án Lập trình Web (Java)</a:t>
            </a:r>
          </a:p>
        </p:txBody>
      </p:sp>
      <p:sp>
        <p:nvSpPr>
          <p:cNvPr id="467" name="TextBox 38"/>
          <p:cNvSpPr txBox="1"/>
          <p:nvPr/>
        </p:nvSpPr>
        <p:spPr>
          <a:xfrm>
            <a:off x="8899855" y="6455664"/>
            <a:ext cx="27432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0A1B9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Design system   14 / 22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70" name="TextBox 2"/>
          <p:cNvSpPr txBox="1"/>
          <p:nvPr/>
        </p:nvSpPr>
        <p:spPr>
          <a:xfrm>
            <a:off x="548640" y="384047"/>
            <a:ext cx="1097280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300" b="1">
                <a:solidFill>
                  <a:srgbClr val="4F39F6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07 · DEMO</a:t>
            </a:r>
          </a:p>
        </p:txBody>
      </p:sp>
      <p:sp>
        <p:nvSpPr>
          <p:cNvPr id="471" name="TextBox 3"/>
          <p:cNvSpPr txBox="1"/>
          <p:nvPr/>
        </p:nvSpPr>
        <p:spPr>
          <a:xfrm>
            <a:off x="548639" y="676655"/>
            <a:ext cx="11064242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3000" b="1">
                <a:solidFill>
                  <a:srgbClr val="0F172B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Khách &amp; học viên — khám phá khóa học</a:t>
            </a:r>
          </a:p>
        </p:txBody>
      </p:sp>
      <p:sp>
        <p:nvSpPr>
          <p:cNvPr id="472" name="Rounded Rectangle 4"/>
          <p:cNvSpPr/>
          <p:nvPr/>
        </p:nvSpPr>
        <p:spPr>
          <a:xfrm>
            <a:off x="576072" y="1389888"/>
            <a:ext cx="502920" cy="50801"/>
          </a:xfrm>
          <a:prstGeom prst="roundRect">
            <a:avLst>
              <a:gd name="adj" fmla="val 50000"/>
            </a:avLst>
          </a:prstGeom>
          <a:solidFill>
            <a:srgbClr val="4F39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73" name="Rounded Rectangle 5"/>
          <p:cNvSpPr/>
          <p:nvPr/>
        </p:nvSpPr>
        <p:spPr>
          <a:xfrm>
            <a:off x="585216" y="1819655"/>
            <a:ext cx="5596129" cy="353872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474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40080" y="1874518"/>
            <a:ext cx="5486401" cy="3429001"/>
          </a:xfrm>
          <a:prstGeom prst="rect">
            <a:avLst/>
          </a:prstGeom>
          <a:ln w="12700">
            <a:miter lim="400000"/>
          </a:ln>
        </p:spPr>
      </p:pic>
      <p:sp>
        <p:nvSpPr>
          <p:cNvPr id="475" name="TextBox 7"/>
          <p:cNvSpPr txBox="1"/>
          <p:nvPr/>
        </p:nvSpPr>
        <p:spPr>
          <a:xfrm>
            <a:off x="640080" y="5413247"/>
            <a:ext cx="548640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2748E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Danh mục: search · filter · sort · phân trang</a:t>
            </a:r>
          </a:p>
        </p:txBody>
      </p:sp>
      <p:sp>
        <p:nvSpPr>
          <p:cNvPr id="476" name="Rounded Rectangle 8"/>
          <p:cNvSpPr/>
          <p:nvPr/>
        </p:nvSpPr>
        <p:spPr>
          <a:xfrm>
            <a:off x="6300215" y="1819655"/>
            <a:ext cx="5596130" cy="353872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477" name="Picture 9" descr="Picture 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355079" y="1874518"/>
            <a:ext cx="5486401" cy="3429001"/>
          </a:xfrm>
          <a:prstGeom prst="rect">
            <a:avLst/>
          </a:prstGeom>
          <a:ln w="12700">
            <a:miter lim="400000"/>
          </a:ln>
        </p:spPr>
      </p:pic>
      <p:sp>
        <p:nvSpPr>
          <p:cNvPr id="478" name="TextBox 10"/>
          <p:cNvSpPr txBox="1"/>
          <p:nvPr/>
        </p:nvSpPr>
        <p:spPr>
          <a:xfrm>
            <a:off x="6355079" y="5413247"/>
            <a:ext cx="548640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2748E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Chi tiết: đề cương + nút CTA theo ngữ cảnh</a:t>
            </a:r>
          </a:p>
        </p:txBody>
      </p:sp>
      <p:sp>
        <p:nvSpPr>
          <p:cNvPr id="479" name="Rectangle 11"/>
          <p:cNvSpPr/>
          <p:nvPr/>
        </p:nvSpPr>
        <p:spPr>
          <a:xfrm>
            <a:off x="548639" y="6382511"/>
            <a:ext cx="11094417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0" name="TextBox 12"/>
          <p:cNvSpPr txBox="1"/>
          <p:nvPr/>
        </p:nvSpPr>
        <p:spPr>
          <a:xfrm>
            <a:off x="548640" y="6455664"/>
            <a:ext cx="54864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100" b="1">
                <a:solidFill>
                  <a:srgbClr val="4F39F6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LMS</a:t>
            </a:r>
            <a:r>
              <a:rPr sz="1000" b="0">
                <a:solidFill>
                  <a:srgbClr val="62748E"/>
                </a:solidFill>
              </a:rPr>
              <a:t>  ·  Đồ án Lập trình Web (Java)</a:t>
            </a:r>
          </a:p>
        </p:txBody>
      </p:sp>
      <p:sp>
        <p:nvSpPr>
          <p:cNvPr id="481" name="TextBox 13"/>
          <p:cNvSpPr txBox="1"/>
          <p:nvPr/>
        </p:nvSpPr>
        <p:spPr>
          <a:xfrm>
            <a:off x="8899855" y="6455664"/>
            <a:ext cx="27432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0A1B9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Demo   15 / 22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4" name="TextBox 2"/>
          <p:cNvSpPr txBox="1"/>
          <p:nvPr/>
        </p:nvSpPr>
        <p:spPr>
          <a:xfrm>
            <a:off x="548640" y="384047"/>
            <a:ext cx="1097280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300" b="1">
                <a:solidFill>
                  <a:srgbClr val="4F39F6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07 · DEMO</a:t>
            </a:r>
          </a:p>
        </p:txBody>
      </p:sp>
      <p:sp>
        <p:nvSpPr>
          <p:cNvPr id="485" name="TextBox 3"/>
          <p:cNvSpPr txBox="1"/>
          <p:nvPr/>
        </p:nvSpPr>
        <p:spPr>
          <a:xfrm>
            <a:off x="548639" y="676655"/>
            <a:ext cx="11064242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3000" b="1">
                <a:solidFill>
                  <a:srgbClr val="0F172B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Học viên — thanh toán &amp; học bài</a:t>
            </a:r>
          </a:p>
        </p:txBody>
      </p:sp>
      <p:sp>
        <p:nvSpPr>
          <p:cNvPr id="486" name="Rounded Rectangle 4"/>
          <p:cNvSpPr/>
          <p:nvPr/>
        </p:nvSpPr>
        <p:spPr>
          <a:xfrm>
            <a:off x="576072" y="1389888"/>
            <a:ext cx="502920" cy="50801"/>
          </a:xfrm>
          <a:prstGeom prst="roundRect">
            <a:avLst>
              <a:gd name="adj" fmla="val 50000"/>
            </a:avLst>
          </a:prstGeom>
          <a:solidFill>
            <a:srgbClr val="4F39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7" name="Rounded Rectangle 5"/>
          <p:cNvSpPr/>
          <p:nvPr/>
        </p:nvSpPr>
        <p:spPr>
          <a:xfrm>
            <a:off x="585216" y="1819655"/>
            <a:ext cx="5596129" cy="353872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488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40080" y="1874518"/>
            <a:ext cx="5486401" cy="3429001"/>
          </a:xfrm>
          <a:prstGeom prst="rect">
            <a:avLst/>
          </a:prstGeom>
          <a:ln w="12700">
            <a:miter lim="400000"/>
          </a:ln>
        </p:spPr>
      </p:pic>
      <p:sp>
        <p:nvSpPr>
          <p:cNvPr id="489" name="TextBox 7"/>
          <p:cNvSpPr txBox="1"/>
          <p:nvPr/>
        </p:nvSpPr>
        <p:spPr>
          <a:xfrm>
            <a:off x="640080" y="5413247"/>
            <a:ext cx="5486401" cy="190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2748E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Thanh toán mô phỏng: PENDING → PAID → ghi danh</a:t>
            </a:r>
          </a:p>
        </p:txBody>
      </p:sp>
      <p:sp>
        <p:nvSpPr>
          <p:cNvPr id="490" name="Rounded Rectangle 8"/>
          <p:cNvSpPr/>
          <p:nvPr/>
        </p:nvSpPr>
        <p:spPr>
          <a:xfrm>
            <a:off x="6300215" y="1819655"/>
            <a:ext cx="5596130" cy="353872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491" name="Picture 9" descr="Picture 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355079" y="1874518"/>
            <a:ext cx="5486401" cy="3429001"/>
          </a:xfrm>
          <a:prstGeom prst="rect">
            <a:avLst/>
          </a:prstGeom>
          <a:ln w="12700">
            <a:miter lim="400000"/>
          </a:ln>
        </p:spPr>
      </p:pic>
      <p:sp>
        <p:nvSpPr>
          <p:cNvPr id="492" name="TextBox 10"/>
          <p:cNvSpPr txBox="1"/>
          <p:nvPr/>
        </p:nvSpPr>
        <p:spPr>
          <a:xfrm>
            <a:off x="6355079" y="5413247"/>
            <a:ext cx="548640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2748E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Trình học: video + tiến độ, tự chuyển bài</a:t>
            </a:r>
          </a:p>
        </p:txBody>
      </p:sp>
      <p:sp>
        <p:nvSpPr>
          <p:cNvPr id="493" name="Rectangle 11"/>
          <p:cNvSpPr/>
          <p:nvPr/>
        </p:nvSpPr>
        <p:spPr>
          <a:xfrm>
            <a:off x="548639" y="6382511"/>
            <a:ext cx="11094417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94" name="TextBox 12"/>
          <p:cNvSpPr txBox="1"/>
          <p:nvPr/>
        </p:nvSpPr>
        <p:spPr>
          <a:xfrm>
            <a:off x="548640" y="6455664"/>
            <a:ext cx="54864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100" b="1">
                <a:solidFill>
                  <a:srgbClr val="4F39F6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LMS</a:t>
            </a:r>
            <a:r>
              <a:rPr sz="1000" b="0">
                <a:solidFill>
                  <a:srgbClr val="62748E"/>
                </a:solidFill>
              </a:rPr>
              <a:t>  ·  Đồ án Lập trình Web (Java)</a:t>
            </a:r>
          </a:p>
        </p:txBody>
      </p:sp>
      <p:sp>
        <p:nvSpPr>
          <p:cNvPr id="495" name="TextBox 13"/>
          <p:cNvSpPr txBox="1"/>
          <p:nvPr/>
        </p:nvSpPr>
        <p:spPr>
          <a:xfrm>
            <a:off x="8899855" y="6455664"/>
            <a:ext cx="27432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0A1B9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Demo   16 / 22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98" name="TextBox 2"/>
          <p:cNvSpPr txBox="1"/>
          <p:nvPr/>
        </p:nvSpPr>
        <p:spPr>
          <a:xfrm>
            <a:off x="548640" y="384047"/>
            <a:ext cx="1097280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300" b="1">
                <a:solidFill>
                  <a:srgbClr val="4F39F6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07 · DEMO</a:t>
            </a:r>
          </a:p>
        </p:txBody>
      </p:sp>
      <p:sp>
        <p:nvSpPr>
          <p:cNvPr id="499" name="TextBox 3"/>
          <p:cNvSpPr txBox="1"/>
          <p:nvPr/>
        </p:nvSpPr>
        <p:spPr>
          <a:xfrm>
            <a:off x="548639" y="676655"/>
            <a:ext cx="11064242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3000" b="1">
                <a:solidFill>
                  <a:srgbClr val="0F172B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Giảng viên — thống kê &amp; soạn khóa học</a:t>
            </a:r>
          </a:p>
        </p:txBody>
      </p:sp>
      <p:sp>
        <p:nvSpPr>
          <p:cNvPr id="500" name="Rounded Rectangle 4"/>
          <p:cNvSpPr/>
          <p:nvPr/>
        </p:nvSpPr>
        <p:spPr>
          <a:xfrm>
            <a:off x="576072" y="1389888"/>
            <a:ext cx="502920" cy="50801"/>
          </a:xfrm>
          <a:prstGeom prst="roundRect">
            <a:avLst>
              <a:gd name="adj" fmla="val 50000"/>
            </a:avLst>
          </a:prstGeom>
          <a:solidFill>
            <a:srgbClr val="4F39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01" name="Rounded Rectangle 5"/>
          <p:cNvSpPr/>
          <p:nvPr/>
        </p:nvSpPr>
        <p:spPr>
          <a:xfrm>
            <a:off x="585216" y="1819655"/>
            <a:ext cx="5596129" cy="353872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502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40080" y="1874518"/>
            <a:ext cx="5486401" cy="3429001"/>
          </a:xfrm>
          <a:prstGeom prst="rect">
            <a:avLst/>
          </a:prstGeom>
          <a:ln w="12700">
            <a:miter lim="400000"/>
          </a:ln>
        </p:spPr>
      </p:pic>
      <p:sp>
        <p:nvSpPr>
          <p:cNvPr id="503" name="TextBox 7"/>
          <p:cNvSpPr txBox="1"/>
          <p:nvPr/>
        </p:nvSpPr>
        <p:spPr>
          <a:xfrm>
            <a:off x="640080" y="5413247"/>
            <a:ext cx="548640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2748E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KPI + 2 biểu đồ SVG tự viết (6 tháng)</a:t>
            </a:r>
          </a:p>
        </p:txBody>
      </p:sp>
      <p:sp>
        <p:nvSpPr>
          <p:cNvPr id="504" name="Rounded Rectangle 8"/>
          <p:cNvSpPr/>
          <p:nvPr/>
        </p:nvSpPr>
        <p:spPr>
          <a:xfrm>
            <a:off x="6300215" y="1819655"/>
            <a:ext cx="5596130" cy="353872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505" name="Picture 9" descr="Picture 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355079" y="1874518"/>
            <a:ext cx="5486401" cy="3429001"/>
          </a:xfrm>
          <a:prstGeom prst="rect">
            <a:avLst/>
          </a:prstGeom>
          <a:ln w="12700">
            <a:miter lim="400000"/>
          </a:ln>
        </p:spPr>
      </p:pic>
      <p:sp>
        <p:nvSpPr>
          <p:cNvPr id="506" name="TextBox 10"/>
          <p:cNvSpPr txBox="1"/>
          <p:nvPr/>
        </p:nvSpPr>
        <p:spPr>
          <a:xfrm>
            <a:off x="6355079" y="5413247"/>
            <a:ext cx="548640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2748E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Soạn thông tin + chương trình học (CRUD)</a:t>
            </a:r>
          </a:p>
        </p:txBody>
      </p:sp>
      <p:sp>
        <p:nvSpPr>
          <p:cNvPr id="507" name="Rectangle 11"/>
          <p:cNvSpPr/>
          <p:nvPr/>
        </p:nvSpPr>
        <p:spPr>
          <a:xfrm>
            <a:off x="548639" y="6382511"/>
            <a:ext cx="11094417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08" name="TextBox 12"/>
          <p:cNvSpPr txBox="1"/>
          <p:nvPr/>
        </p:nvSpPr>
        <p:spPr>
          <a:xfrm>
            <a:off x="548640" y="6455664"/>
            <a:ext cx="54864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100" b="1">
                <a:solidFill>
                  <a:srgbClr val="4F39F6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LMS</a:t>
            </a:r>
            <a:r>
              <a:rPr sz="1000" b="0">
                <a:solidFill>
                  <a:srgbClr val="62748E"/>
                </a:solidFill>
              </a:rPr>
              <a:t>  ·  Đồ án Lập trình Web (Java)</a:t>
            </a:r>
          </a:p>
        </p:txBody>
      </p:sp>
      <p:sp>
        <p:nvSpPr>
          <p:cNvPr id="509" name="TextBox 13"/>
          <p:cNvSpPr txBox="1"/>
          <p:nvPr/>
        </p:nvSpPr>
        <p:spPr>
          <a:xfrm>
            <a:off x="8899855" y="6455664"/>
            <a:ext cx="27432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0A1B9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Demo   17 / 22</a:t>
            </a: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12" name="TextBox 2"/>
          <p:cNvSpPr txBox="1"/>
          <p:nvPr/>
        </p:nvSpPr>
        <p:spPr>
          <a:xfrm>
            <a:off x="548640" y="384047"/>
            <a:ext cx="1097280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300" b="1">
                <a:solidFill>
                  <a:srgbClr val="4F39F6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07 · DEMO</a:t>
            </a:r>
          </a:p>
        </p:txBody>
      </p:sp>
      <p:sp>
        <p:nvSpPr>
          <p:cNvPr id="513" name="TextBox 3"/>
          <p:cNvSpPr txBox="1"/>
          <p:nvPr/>
        </p:nvSpPr>
        <p:spPr>
          <a:xfrm>
            <a:off x="548639" y="676655"/>
            <a:ext cx="11064242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3000" b="1">
                <a:solidFill>
                  <a:srgbClr val="0F172B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Quản trị viên &amp; dashboard học viên</a:t>
            </a:r>
          </a:p>
        </p:txBody>
      </p:sp>
      <p:sp>
        <p:nvSpPr>
          <p:cNvPr id="514" name="Rounded Rectangle 4"/>
          <p:cNvSpPr/>
          <p:nvPr/>
        </p:nvSpPr>
        <p:spPr>
          <a:xfrm>
            <a:off x="576072" y="1389888"/>
            <a:ext cx="502920" cy="50801"/>
          </a:xfrm>
          <a:prstGeom prst="roundRect">
            <a:avLst>
              <a:gd name="adj" fmla="val 50000"/>
            </a:avLst>
          </a:prstGeom>
          <a:solidFill>
            <a:srgbClr val="4F39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15" name="Rounded Rectangle 5"/>
          <p:cNvSpPr/>
          <p:nvPr/>
        </p:nvSpPr>
        <p:spPr>
          <a:xfrm>
            <a:off x="585216" y="1819655"/>
            <a:ext cx="5596129" cy="353872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516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40080" y="1874518"/>
            <a:ext cx="5486401" cy="3429001"/>
          </a:xfrm>
          <a:prstGeom prst="rect">
            <a:avLst/>
          </a:prstGeom>
          <a:ln w="12700">
            <a:miter lim="400000"/>
          </a:ln>
        </p:spPr>
      </p:pic>
      <p:sp>
        <p:nvSpPr>
          <p:cNvPr id="517" name="TextBox 7"/>
          <p:cNvSpPr txBox="1"/>
          <p:nvPr/>
        </p:nvSpPr>
        <p:spPr>
          <a:xfrm>
            <a:off x="640080" y="5413247"/>
            <a:ext cx="548640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2748E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Gán vai trò · khóa tài khoản · danh mục</a:t>
            </a:r>
          </a:p>
        </p:txBody>
      </p:sp>
      <p:sp>
        <p:nvSpPr>
          <p:cNvPr id="518" name="Rounded Rectangle 8"/>
          <p:cNvSpPr/>
          <p:nvPr/>
        </p:nvSpPr>
        <p:spPr>
          <a:xfrm>
            <a:off x="6300215" y="1819655"/>
            <a:ext cx="5596130" cy="353872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519" name="Picture 9" descr="Picture 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355079" y="1874518"/>
            <a:ext cx="5486401" cy="3429001"/>
          </a:xfrm>
          <a:prstGeom prst="rect">
            <a:avLst/>
          </a:prstGeom>
          <a:ln w="12700">
            <a:miter lim="400000"/>
          </a:ln>
        </p:spPr>
      </p:pic>
      <p:sp>
        <p:nvSpPr>
          <p:cNvPr id="520" name="TextBox 10"/>
          <p:cNvSpPr txBox="1"/>
          <p:nvPr/>
        </p:nvSpPr>
        <p:spPr>
          <a:xfrm>
            <a:off x="6355079" y="5413247"/>
            <a:ext cx="548640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2748E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“My Learning” — tiến độ từng khóa</a:t>
            </a:r>
          </a:p>
        </p:txBody>
      </p:sp>
      <p:sp>
        <p:nvSpPr>
          <p:cNvPr id="521" name="Rectangle 11"/>
          <p:cNvSpPr/>
          <p:nvPr/>
        </p:nvSpPr>
        <p:spPr>
          <a:xfrm>
            <a:off x="548639" y="6382511"/>
            <a:ext cx="11094417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22" name="TextBox 12"/>
          <p:cNvSpPr txBox="1"/>
          <p:nvPr/>
        </p:nvSpPr>
        <p:spPr>
          <a:xfrm>
            <a:off x="548640" y="6455664"/>
            <a:ext cx="54864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100" b="1">
                <a:solidFill>
                  <a:srgbClr val="4F39F6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LMS</a:t>
            </a:r>
            <a:r>
              <a:rPr sz="1000" b="0">
                <a:solidFill>
                  <a:srgbClr val="62748E"/>
                </a:solidFill>
              </a:rPr>
              <a:t>  ·  Đồ án Lập trình Web (Java)</a:t>
            </a:r>
          </a:p>
        </p:txBody>
      </p:sp>
      <p:sp>
        <p:nvSpPr>
          <p:cNvPr id="523" name="TextBox 13"/>
          <p:cNvSpPr txBox="1"/>
          <p:nvPr/>
        </p:nvSpPr>
        <p:spPr>
          <a:xfrm>
            <a:off x="8899855" y="6455664"/>
            <a:ext cx="27432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0A1B9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Demo   18 / 22</a:t>
            </a: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26" name="TextBox 2"/>
          <p:cNvSpPr txBox="1"/>
          <p:nvPr/>
        </p:nvSpPr>
        <p:spPr>
          <a:xfrm>
            <a:off x="548640" y="384047"/>
            <a:ext cx="1097280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300" b="1">
                <a:solidFill>
                  <a:srgbClr val="4F39F6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08 · TRIỂN KHAI</a:t>
            </a:r>
          </a:p>
        </p:txBody>
      </p:sp>
      <p:sp>
        <p:nvSpPr>
          <p:cNvPr id="527" name="TextBox 3"/>
          <p:cNvSpPr txBox="1"/>
          <p:nvPr/>
        </p:nvSpPr>
        <p:spPr>
          <a:xfrm>
            <a:off x="548639" y="676655"/>
            <a:ext cx="11064242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3000" b="1">
                <a:solidFill>
                  <a:srgbClr val="0F172B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CI/CD — tự động từ git push đến production</a:t>
            </a:r>
          </a:p>
        </p:txBody>
      </p:sp>
      <p:sp>
        <p:nvSpPr>
          <p:cNvPr id="528" name="Rounded Rectangle 4"/>
          <p:cNvSpPr/>
          <p:nvPr/>
        </p:nvSpPr>
        <p:spPr>
          <a:xfrm>
            <a:off x="576072" y="1389888"/>
            <a:ext cx="502920" cy="50801"/>
          </a:xfrm>
          <a:prstGeom prst="roundRect">
            <a:avLst>
              <a:gd name="adj" fmla="val 50000"/>
            </a:avLst>
          </a:prstGeom>
          <a:solidFill>
            <a:srgbClr val="4F39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29" name="Rounded Rectangle 5"/>
          <p:cNvSpPr/>
          <p:nvPr/>
        </p:nvSpPr>
        <p:spPr>
          <a:xfrm>
            <a:off x="685800" y="1691639"/>
            <a:ext cx="10835641" cy="379476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530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83079" y="1828800"/>
            <a:ext cx="8641082" cy="3531573"/>
          </a:xfrm>
          <a:prstGeom prst="rect">
            <a:avLst/>
          </a:prstGeom>
          <a:ln w="12700">
            <a:miter lim="400000"/>
          </a:ln>
        </p:spPr>
      </p:pic>
      <p:sp>
        <p:nvSpPr>
          <p:cNvPr id="531" name="Rounded Rectangle 7"/>
          <p:cNvSpPr/>
          <p:nvPr/>
        </p:nvSpPr>
        <p:spPr>
          <a:xfrm>
            <a:off x="685800" y="5623559"/>
            <a:ext cx="10835641" cy="566929"/>
          </a:xfrm>
          <a:prstGeom prst="roundRect">
            <a:avLst>
              <a:gd name="adj" fmla="val 14000"/>
            </a:avLst>
          </a:prstGeom>
          <a:solidFill>
            <a:srgbClr val="0F172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32" name="TextBox 8"/>
          <p:cNvSpPr txBox="1"/>
          <p:nvPr/>
        </p:nvSpPr>
        <p:spPr>
          <a:xfrm>
            <a:off x="960119" y="5760720"/>
            <a:ext cx="10332722" cy="1960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200">
                <a:solidFill>
                  <a:srgbClr val="90A1B9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Đang chạy thật:  </a:t>
            </a:r>
            <a:r>
              <a:rPr b="1">
                <a:solidFill>
                  <a:srgbClr val="7C86FF"/>
                </a:solidFill>
                <a:latin typeface="Consolas"/>
                <a:ea typeface="Consolas"/>
                <a:cs typeface="Consolas"/>
                <a:sym typeface="Consolas"/>
              </a:rPr>
              <a:t>tuananh102.github.io/JavaDevelopment.Lms</a:t>
            </a:r>
            <a:r>
              <a:rPr>
                <a:solidFill>
                  <a:srgbClr val="62748E"/>
                </a:solidFill>
              </a:rPr>
              <a:t>   ↔   </a:t>
            </a:r>
            <a:r>
              <a:rPr b="1">
                <a:solidFill>
                  <a:srgbClr val="7C86FF"/>
                </a:solidFill>
                <a:latin typeface="Consolas"/>
                <a:ea typeface="Consolas"/>
                <a:cs typeface="Consolas"/>
                <a:sym typeface="Consolas"/>
              </a:rPr>
              <a:t>hcmute-lms.azurewebsites.net/api/v1</a:t>
            </a:r>
          </a:p>
        </p:txBody>
      </p:sp>
      <p:sp>
        <p:nvSpPr>
          <p:cNvPr id="533" name="Rectangle 9"/>
          <p:cNvSpPr/>
          <p:nvPr/>
        </p:nvSpPr>
        <p:spPr>
          <a:xfrm>
            <a:off x="548639" y="6382511"/>
            <a:ext cx="11094417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34" name="TextBox 10"/>
          <p:cNvSpPr txBox="1"/>
          <p:nvPr/>
        </p:nvSpPr>
        <p:spPr>
          <a:xfrm>
            <a:off x="548640" y="6455664"/>
            <a:ext cx="54864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100" b="1">
                <a:solidFill>
                  <a:srgbClr val="4F39F6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LMS</a:t>
            </a:r>
            <a:r>
              <a:rPr sz="1000" b="0">
                <a:solidFill>
                  <a:srgbClr val="62748E"/>
                </a:solidFill>
              </a:rPr>
              <a:t>  ·  Đồ án Lập trình Web (Java)</a:t>
            </a:r>
          </a:p>
        </p:txBody>
      </p:sp>
      <p:sp>
        <p:nvSpPr>
          <p:cNvPr id="535" name="TextBox 11"/>
          <p:cNvSpPr txBox="1"/>
          <p:nvPr/>
        </p:nvSpPr>
        <p:spPr>
          <a:xfrm>
            <a:off x="8899855" y="6455664"/>
            <a:ext cx="27432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0A1B9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CI/CD   19 / 22</a:t>
            </a: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38" name="TextBox 2"/>
          <p:cNvSpPr txBox="1"/>
          <p:nvPr/>
        </p:nvSpPr>
        <p:spPr>
          <a:xfrm>
            <a:off x="548640" y="384047"/>
            <a:ext cx="1097280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300" b="1">
                <a:solidFill>
                  <a:srgbClr val="4F39F6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08 · KẾT QUẢ</a:t>
            </a:r>
          </a:p>
        </p:txBody>
      </p:sp>
      <p:sp>
        <p:nvSpPr>
          <p:cNvPr id="539" name="TextBox 3"/>
          <p:cNvSpPr txBox="1"/>
          <p:nvPr/>
        </p:nvSpPr>
        <p:spPr>
          <a:xfrm>
            <a:off x="548639" y="676655"/>
            <a:ext cx="11064242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3000" b="1">
                <a:solidFill>
                  <a:srgbClr val="0F172B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Số liệu tổng hợp của sản phẩm</a:t>
            </a:r>
          </a:p>
        </p:txBody>
      </p:sp>
      <p:sp>
        <p:nvSpPr>
          <p:cNvPr id="540" name="Rounded Rectangle 4"/>
          <p:cNvSpPr/>
          <p:nvPr/>
        </p:nvSpPr>
        <p:spPr>
          <a:xfrm>
            <a:off x="576072" y="1389888"/>
            <a:ext cx="502920" cy="50801"/>
          </a:xfrm>
          <a:prstGeom prst="roundRect">
            <a:avLst>
              <a:gd name="adj" fmla="val 50000"/>
            </a:avLst>
          </a:prstGeom>
          <a:solidFill>
            <a:srgbClr val="4F39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41" name="Rounded Rectangle 5"/>
          <p:cNvSpPr/>
          <p:nvPr/>
        </p:nvSpPr>
        <p:spPr>
          <a:xfrm>
            <a:off x="640080" y="1828800"/>
            <a:ext cx="2651761" cy="150876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42" name="Rounded Rectangle 6"/>
          <p:cNvSpPr/>
          <p:nvPr/>
        </p:nvSpPr>
        <p:spPr>
          <a:xfrm>
            <a:off x="868680" y="2084832"/>
            <a:ext cx="274321" cy="40641"/>
          </a:xfrm>
          <a:prstGeom prst="roundRect">
            <a:avLst>
              <a:gd name="adj" fmla="val 50000"/>
            </a:avLst>
          </a:prstGeom>
          <a:solidFill>
            <a:srgbClr val="4F39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43" name="TextBox 7"/>
          <p:cNvSpPr txBox="1"/>
          <p:nvPr/>
        </p:nvSpPr>
        <p:spPr>
          <a:xfrm>
            <a:off x="868680" y="2212848"/>
            <a:ext cx="2194561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3000" b="1">
                <a:solidFill>
                  <a:srgbClr val="0F172B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37</a:t>
            </a:r>
          </a:p>
        </p:txBody>
      </p:sp>
      <p:sp>
        <p:nvSpPr>
          <p:cNvPr id="544" name="TextBox 8"/>
          <p:cNvSpPr txBox="1"/>
          <p:nvPr/>
        </p:nvSpPr>
        <p:spPr>
          <a:xfrm>
            <a:off x="868680" y="2770632"/>
            <a:ext cx="2194561" cy="3905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sz="1200">
                <a:solidFill>
                  <a:srgbClr val="45556C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REST endpoint (9 nhóm tài nguyên)</a:t>
            </a:r>
          </a:p>
        </p:txBody>
      </p:sp>
      <p:sp>
        <p:nvSpPr>
          <p:cNvPr id="545" name="Rounded Rectangle 9"/>
          <p:cNvSpPr/>
          <p:nvPr/>
        </p:nvSpPr>
        <p:spPr>
          <a:xfrm>
            <a:off x="3474720" y="1828800"/>
            <a:ext cx="2651761" cy="150876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46" name="Rounded Rectangle 10"/>
          <p:cNvSpPr/>
          <p:nvPr/>
        </p:nvSpPr>
        <p:spPr>
          <a:xfrm>
            <a:off x="3703320" y="2084832"/>
            <a:ext cx="274321" cy="40641"/>
          </a:xfrm>
          <a:prstGeom prst="roundRect">
            <a:avLst>
              <a:gd name="adj" fmla="val 50000"/>
            </a:avLst>
          </a:prstGeom>
          <a:solidFill>
            <a:srgbClr val="4F39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47" name="TextBox 11"/>
          <p:cNvSpPr txBox="1"/>
          <p:nvPr/>
        </p:nvSpPr>
        <p:spPr>
          <a:xfrm>
            <a:off x="3703320" y="2212848"/>
            <a:ext cx="2194561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3000" b="1">
                <a:solidFill>
                  <a:srgbClr val="0F172B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8</a:t>
            </a:r>
          </a:p>
        </p:txBody>
      </p:sp>
      <p:sp>
        <p:nvSpPr>
          <p:cNvPr id="548" name="TextBox 12"/>
          <p:cNvSpPr txBox="1"/>
          <p:nvPr/>
        </p:nvSpPr>
        <p:spPr>
          <a:xfrm>
            <a:off x="3703320" y="2770632"/>
            <a:ext cx="2194561" cy="3905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sz="1200">
                <a:solidFill>
                  <a:srgbClr val="45556C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bảng CSDL · 5 migration Flyway</a:t>
            </a:r>
          </a:p>
        </p:txBody>
      </p:sp>
      <p:sp>
        <p:nvSpPr>
          <p:cNvPr id="549" name="Rounded Rectangle 13"/>
          <p:cNvSpPr/>
          <p:nvPr/>
        </p:nvSpPr>
        <p:spPr>
          <a:xfrm>
            <a:off x="6309359" y="1828800"/>
            <a:ext cx="2651761" cy="150876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50" name="Rounded Rectangle 14"/>
          <p:cNvSpPr/>
          <p:nvPr/>
        </p:nvSpPr>
        <p:spPr>
          <a:xfrm>
            <a:off x="6537959" y="2084832"/>
            <a:ext cx="274321" cy="40641"/>
          </a:xfrm>
          <a:prstGeom prst="roundRect">
            <a:avLst>
              <a:gd name="adj" fmla="val 50000"/>
            </a:avLst>
          </a:prstGeom>
          <a:solidFill>
            <a:srgbClr val="4F39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51" name="TextBox 15"/>
          <p:cNvSpPr txBox="1"/>
          <p:nvPr/>
        </p:nvSpPr>
        <p:spPr>
          <a:xfrm>
            <a:off x="6537959" y="2212848"/>
            <a:ext cx="2194561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3000" b="1">
                <a:solidFill>
                  <a:srgbClr val="0F172B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14</a:t>
            </a:r>
          </a:p>
        </p:txBody>
      </p:sp>
      <p:sp>
        <p:nvSpPr>
          <p:cNvPr id="552" name="TextBox 16"/>
          <p:cNvSpPr txBox="1"/>
          <p:nvPr/>
        </p:nvSpPr>
        <p:spPr>
          <a:xfrm>
            <a:off x="6537959" y="2770632"/>
            <a:ext cx="2194561" cy="3905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sz="1200">
                <a:solidFill>
                  <a:srgbClr val="45556C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route SPA · 14 trang màn hình</a:t>
            </a:r>
          </a:p>
        </p:txBody>
      </p:sp>
      <p:sp>
        <p:nvSpPr>
          <p:cNvPr id="553" name="Rounded Rectangle 17"/>
          <p:cNvSpPr/>
          <p:nvPr/>
        </p:nvSpPr>
        <p:spPr>
          <a:xfrm>
            <a:off x="9144000" y="1828800"/>
            <a:ext cx="2651761" cy="150876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54" name="Rounded Rectangle 18"/>
          <p:cNvSpPr/>
          <p:nvPr/>
        </p:nvSpPr>
        <p:spPr>
          <a:xfrm>
            <a:off x="9372600" y="2084832"/>
            <a:ext cx="274321" cy="40641"/>
          </a:xfrm>
          <a:prstGeom prst="roundRect">
            <a:avLst>
              <a:gd name="adj" fmla="val 50000"/>
            </a:avLst>
          </a:prstGeom>
          <a:solidFill>
            <a:srgbClr val="4F39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55" name="TextBox 19"/>
          <p:cNvSpPr txBox="1"/>
          <p:nvPr/>
        </p:nvSpPr>
        <p:spPr>
          <a:xfrm>
            <a:off x="9372600" y="2212848"/>
            <a:ext cx="2194561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3000" b="1">
                <a:solidFill>
                  <a:srgbClr val="0F172B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3+1</a:t>
            </a:r>
          </a:p>
        </p:txBody>
      </p:sp>
      <p:sp>
        <p:nvSpPr>
          <p:cNvPr id="556" name="TextBox 20"/>
          <p:cNvSpPr txBox="1"/>
          <p:nvPr/>
        </p:nvSpPr>
        <p:spPr>
          <a:xfrm>
            <a:off x="9372600" y="2770632"/>
            <a:ext cx="2194561" cy="3905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sz="1200">
                <a:solidFill>
                  <a:srgbClr val="45556C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vai trò phân quyền (kèm khách)</a:t>
            </a:r>
          </a:p>
        </p:txBody>
      </p:sp>
      <p:sp>
        <p:nvSpPr>
          <p:cNvPr id="557" name="Rounded Rectangle 21"/>
          <p:cNvSpPr/>
          <p:nvPr/>
        </p:nvSpPr>
        <p:spPr>
          <a:xfrm>
            <a:off x="640080" y="3520440"/>
            <a:ext cx="2651761" cy="150876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58" name="Rounded Rectangle 22"/>
          <p:cNvSpPr/>
          <p:nvPr/>
        </p:nvSpPr>
        <p:spPr>
          <a:xfrm>
            <a:off x="868680" y="3776471"/>
            <a:ext cx="274321" cy="40641"/>
          </a:xfrm>
          <a:prstGeom prst="roundRect">
            <a:avLst>
              <a:gd name="adj" fmla="val 50000"/>
            </a:avLst>
          </a:prstGeom>
          <a:solidFill>
            <a:srgbClr val="4F39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59" name="TextBox 23"/>
          <p:cNvSpPr txBox="1"/>
          <p:nvPr/>
        </p:nvSpPr>
        <p:spPr>
          <a:xfrm>
            <a:off x="868680" y="3904488"/>
            <a:ext cx="2194561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3000" b="1">
                <a:solidFill>
                  <a:srgbClr val="0F172B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2.9K</a:t>
            </a:r>
          </a:p>
        </p:txBody>
      </p:sp>
      <p:sp>
        <p:nvSpPr>
          <p:cNvPr id="560" name="TextBox 24"/>
          <p:cNvSpPr txBox="1"/>
          <p:nvPr/>
        </p:nvSpPr>
        <p:spPr>
          <a:xfrm>
            <a:off x="868680" y="4462271"/>
            <a:ext cx="219456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sz="1200">
                <a:solidFill>
                  <a:srgbClr val="45556C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dòng mã Java (59 tệp)</a:t>
            </a:r>
          </a:p>
        </p:txBody>
      </p:sp>
      <p:sp>
        <p:nvSpPr>
          <p:cNvPr id="561" name="Rounded Rectangle 25"/>
          <p:cNvSpPr/>
          <p:nvPr/>
        </p:nvSpPr>
        <p:spPr>
          <a:xfrm>
            <a:off x="3474720" y="3520440"/>
            <a:ext cx="2651761" cy="150876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62" name="Rounded Rectangle 26"/>
          <p:cNvSpPr/>
          <p:nvPr/>
        </p:nvSpPr>
        <p:spPr>
          <a:xfrm>
            <a:off x="3703320" y="3776471"/>
            <a:ext cx="274321" cy="40641"/>
          </a:xfrm>
          <a:prstGeom prst="roundRect">
            <a:avLst>
              <a:gd name="adj" fmla="val 50000"/>
            </a:avLst>
          </a:prstGeom>
          <a:solidFill>
            <a:srgbClr val="4F39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63" name="TextBox 27"/>
          <p:cNvSpPr txBox="1"/>
          <p:nvPr/>
        </p:nvSpPr>
        <p:spPr>
          <a:xfrm>
            <a:off x="3703320" y="3904488"/>
            <a:ext cx="2194561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3000" b="1">
                <a:solidFill>
                  <a:srgbClr val="0F172B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4.5K</a:t>
            </a:r>
          </a:p>
        </p:txBody>
      </p:sp>
      <p:sp>
        <p:nvSpPr>
          <p:cNvPr id="564" name="TextBox 28"/>
          <p:cNvSpPr txBox="1"/>
          <p:nvPr/>
        </p:nvSpPr>
        <p:spPr>
          <a:xfrm>
            <a:off x="3703320" y="4462271"/>
            <a:ext cx="219456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sz="1200">
                <a:solidFill>
                  <a:srgbClr val="45556C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dòng TypeScript / TSX</a:t>
            </a:r>
          </a:p>
        </p:txBody>
      </p:sp>
      <p:sp>
        <p:nvSpPr>
          <p:cNvPr id="565" name="Rounded Rectangle 29"/>
          <p:cNvSpPr/>
          <p:nvPr/>
        </p:nvSpPr>
        <p:spPr>
          <a:xfrm>
            <a:off x="6309359" y="3520440"/>
            <a:ext cx="2651761" cy="150876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66" name="Rounded Rectangle 30"/>
          <p:cNvSpPr/>
          <p:nvPr/>
        </p:nvSpPr>
        <p:spPr>
          <a:xfrm>
            <a:off x="6537959" y="3776471"/>
            <a:ext cx="274321" cy="40641"/>
          </a:xfrm>
          <a:prstGeom prst="roundRect">
            <a:avLst>
              <a:gd name="adj" fmla="val 50000"/>
            </a:avLst>
          </a:prstGeom>
          <a:solidFill>
            <a:srgbClr val="4F39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67" name="TextBox 31"/>
          <p:cNvSpPr txBox="1"/>
          <p:nvPr/>
        </p:nvSpPr>
        <p:spPr>
          <a:xfrm>
            <a:off x="6537959" y="3904488"/>
            <a:ext cx="2194561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3000" b="1">
                <a:solidFill>
                  <a:srgbClr val="0F172B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43</a:t>
            </a:r>
          </a:p>
        </p:txBody>
      </p:sp>
      <p:sp>
        <p:nvSpPr>
          <p:cNvPr id="568" name="TextBox 32"/>
          <p:cNvSpPr txBox="1"/>
          <p:nvPr/>
        </p:nvSpPr>
        <p:spPr>
          <a:xfrm>
            <a:off x="6537959" y="4462271"/>
            <a:ext cx="219456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sz="1200">
                <a:solidFill>
                  <a:srgbClr val="45556C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commit trong ~2 tuần</a:t>
            </a:r>
          </a:p>
        </p:txBody>
      </p:sp>
      <p:sp>
        <p:nvSpPr>
          <p:cNvPr id="569" name="Rounded Rectangle 33"/>
          <p:cNvSpPr/>
          <p:nvPr/>
        </p:nvSpPr>
        <p:spPr>
          <a:xfrm>
            <a:off x="9144000" y="3520440"/>
            <a:ext cx="2651761" cy="150876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70" name="Rounded Rectangle 34"/>
          <p:cNvSpPr/>
          <p:nvPr/>
        </p:nvSpPr>
        <p:spPr>
          <a:xfrm>
            <a:off x="9372600" y="3776471"/>
            <a:ext cx="274321" cy="40641"/>
          </a:xfrm>
          <a:prstGeom prst="roundRect">
            <a:avLst>
              <a:gd name="adj" fmla="val 50000"/>
            </a:avLst>
          </a:prstGeom>
          <a:solidFill>
            <a:srgbClr val="4F39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71" name="TextBox 35"/>
          <p:cNvSpPr txBox="1"/>
          <p:nvPr/>
        </p:nvSpPr>
        <p:spPr>
          <a:xfrm>
            <a:off x="9372600" y="3904488"/>
            <a:ext cx="2194561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3000" b="1">
                <a:solidFill>
                  <a:srgbClr val="0F172B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100%</a:t>
            </a:r>
          </a:p>
        </p:txBody>
      </p:sp>
      <p:sp>
        <p:nvSpPr>
          <p:cNvPr id="572" name="TextBox 36"/>
          <p:cNvSpPr txBox="1"/>
          <p:nvPr/>
        </p:nvSpPr>
        <p:spPr>
          <a:xfrm>
            <a:off x="9372600" y="4462271"/>
            <a:ext cx="2194561" cy="3905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sz="1200">
                <a:solidFill>
                  <a:srgbClr val="45556C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deploy tự động (Azure + Pages)</a:t>
            </a:r>
          </a:p>
        </p:txBody>
      </p:sp>
      <p:sp>
        <p:nvSpPr>
          <p:cNvPr id="573" name="Rounded Rectangle 37"/>
          <p:cNvSpPr/>
          <p:nvPr/>
        </p:nvSpPr>
        <p:spPr>
          <a:xfrm>
            <a:off x="640080" y="5349240"/>
            <a:ext cx="10972801" cy="777241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2700">
            <a:solidFill>
              <a:srgbClr val="D0FAE5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74" name="TextBox 38"/>
          <p:cNvSpPr txBox="1"/>
          <p:nvPr/>
        </p:nvSpPr>
        <p:spPr>
          <a:xfrm>
            <a:off x="914400" y="5513832"/>
            <a:ext cx="1042416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300" b="1">
                <a:solidFill>
                  <a:srgbClr val="007A55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Hoàn thành 4/4 mục tiêu:  </a:t>
            </a:r>
            <a:r>
              <a:rPr b="0">
                <a:solidFill>
                  <a:srgbClr val="45556C"/>
                </a:solidFill>
              </a:rPr>
              <a:t>REST API Java hoàn chỉnh · SPA tách rời · nghiệp vụ trọn 3 vai trò · vận hành thật trên cloud</a:t>
            </a:r>
          </a:p>
        </p:txBody>
      </p:sp>
      <p:sp>
        <p:nvSpPr>
          <p:cNvPr id="575" name="Rectangle 39"/>
          <p:cNvSpPr/>
          <p:nvPr/>
        </p:nvSpPr>
        <p:spPr>
          <a:xfrm>
            <a:off x="548639" y="6382511"/>
            <a:ext cx="11094417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76" name="TextBox 40"/>
          <p:cNvSpPr txBox="1"/>
          <p:nvPr/>
        </p:nvSpPr>
        <p:spPr>
          <a:xfrm>
            <a:off x="548640" y="6455664"/>
            <a:ext cx="54864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100" b="1">
                <a:solidFill>
                  <a:srgbClr val="4F39F6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LMS</a:t>
            </a:r>
            <a:r>
              <a:rPr sz="1000" b="0">
                <a:solidFill>
                  <a:srgbClr val="62748E"/>
                </a:solidFill>
              </a:rPr>
              <a:t>  ·  Đồ án Lập trình Web (Java)</a:t>
            </a:r>
          </a:p>
        </p:txBody>
      </p:sp>
      <p:sp>
        <p:nvSpPr>
          <p:cNvPr id="577" name="TextBox 41"/>
          <p:cNvSpPr txBox="1"/>
          <p:nvPr/>
        </p:nvSpPr>
        <p:spPr>
          <a:xfrm>
            <a:off x="8899855" y="6455664"/>
            <a:ext cx="27432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0A1B9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Kết quả   20 / 22</a:t>
            </a: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80" name="TextBox 2"/>
          <p:cNvSpPr txBox="1"/>
          <p:nvPr/>
        </p:nvSpPr>
        <p:spPr>
          <a:xfrm>
            <a:off x="548640" y="384047"/>
            <a:ext cx="1097280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300" b="1">
                <a:solidFill>
                  <a:srgbClr val="4F39F6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08 · KẾT LUẬN</a:t>
            </a:r>
          </a:p>
        </p:txBody>
      </p:sp>
      <p:sp>
        <p:nvSpPr>
          <p:cNvPr id="581" name="TextBox 3"/>
          <p:cNvSpPr txBox="1"/>
          <p:nvPr/>
        </p:nvSpPr>
        <p:spPr>
          <a:xfrm>
            <a:off x="548639" y="676655"/>
            <a:ext cx="11064242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3000" b="1">
                <a:solidFill>
                  <a:srgbClr val="0F172B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Hạn chế &amp; hướng phát triển</a:t>
            </a:r>
          </a:p>
        </p:txBody>
      </p:sp>
      <p:sp>
        <p:nvSpPr>
          <p:cNvPr id="582" name="Rounded Rectangle 4"/>
          <p:cNvSpPr/>
          <p:nvPr/>
        </p:nvSpPr>
        <p:spPr>
          <a:xfrm>
            <a:off x="576072" y="1389888"/>
            <a:ext cx="502920" cy="50801"/>
          </a:xfrm>
          <a:prstGeom prst="roundRect">
            <a:avLst>
              <a:gd name="adj" fmla="val 50000"/>
            </a:avLst>
          </a:prstGeom>
          <a:solidFill>
            <a:srgbClr val="4F39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83" name="Rounded Rectangle 5"/>
          <p:cNvSpPr/>
          <p:nvPr/>
        </p:nvSpPr>
        <p:spPr>
          <a:xfrm>
            <a:off x="640080" y="1737360"/>
            <a:ext cx="539496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84" name="TextBox 6"/>
          <p:cNvSpPr txBox="1"/>
          <p:nvPr/>
        </p:nvSpPr>
        <p:spPr>
          <a:xfrm>
            <a:off x="914400" y="1920239"/>
            <a:ext cx="484632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600" b="1">
                <a:solidFill>
                  <a:srgbClr val="BB4D00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Hạn chế hiện tại</a:t>
            </a:r>
          </a:p>
        </p:txBody>
      </p:sp>
      <p:sp>
        <p:nvSpPr>
          <p:cNvPr id="585" name="TextBox 7"/>
          <p:cNvSpPr txBox="1"/>
          <p:nvPr/>
        </p:nvSpPr>
        <p:spPr>
          <a:xfrm>
            <a:off x="914400" y="2377439"/>
            <a:ext cx="4846321" cy="208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1200"/>
              </a:spcBef>
              <a:defRPr sz="1300" b="1">
                <a:solidFill>
                  <a:srgbClr val="4F39F6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•  </a:t>
            </a:r>
            <a:r>
              <a:rPr b="0">
                <a:solidFill>
                  <a:srgbClr val="45556C"/>
                </a:solidFill>
              </a:rPr>
              <a:t>Chưa có unit/integration test tự động cho backend (mới có type-check + build CI + kịch bản thủ công).</a:t>
            </a:r>
          </a:p>
          <a:p>
            <a:pPr>
              <a:spcBef>
                <a:spcPts val="1200"/>
              </a:spcBef>
              <a:defRPr sz="1300" b="1">
                <a:solidFill>
                  <a:srgbClr val="4F39F6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•  </a:t>
            </a:r>
            <a:r>
              <a:rPr b="0">
                <a:solidFill>
                  <a:srgbClr val="45556C"/>
                </a:solidFill>
              </a:rPr>
              <a:t>Thanh toán là mô phỏng; video dựa trên YouTube nhúng.</a:t>
            </a:r>
          </a:p>
          <a:p>
            <a:pPr>
              <a:spcBef>
                <a:spcPts val="1200"/>
              </a:spcBef>
              <a:defRPr sz="1300" b="1">
                <a:solidFill>
                  <a:srgbClr val="4F39F6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•  </a:t>
            </a:r>
            <a:r>
              <a:rPr b="0">
                <a:solidFill>
                  <a:srgbClr val="45556C"/>
                </a:solidFill>
              </a:rPr>
              <a:t>Thống kê gộp bằng Java — cần chuyển SQL aggregate khi dữ liệu lớn.</a:t>
            </a:r>
          </a:p>
          <a:p>
            <a:pPr>
              <a:spcBef>
                <a:spcPts val="1200"/>
              </a:spcBef>
              <a:defRPr sz="1300" b="1">
                <a:solidFill>
                  <a:srgbClr val="4F39F6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•  </a:t>
            </a:r>
            <a:r>
              <a:rPr b="0">
                <a:solidFill>
                  <a:srgbClr val="45556C"/>
                </a:solidFill>
              </a:rPr>
              <a:t>JWT trong localStorage — rủi ro XSS hơn cookie httpOnly.</a:t>
            </a:r>
          </a:p>
        </p:txBody>
      </p:sp>
      <p:sp>
        <p:nvSpPr>
          <p:cNvPr id="586" name="Rounded Rectangle 8"/>
          <p:cNvSpPr/>
          <p:nvPr/>
        </p:nvSpPr>
        <p:spPr>
          <a:xfrm>
            <a:off x="6309359" y="1737360"/>
            <a:ext cx="5303521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87" name="TextBox 9"/>
          <p:cNvSpPr txBox="1"/>
          <p:nvPr/>
        </p:nvSpPr>
        <p:spPr>
          <a:xfrm>
            <a:off x="6583680" y="1920239"/>
            <a:ext cx="475488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600" b="1">
                <a:solidFill>
                  <a:srgbClr val="007A55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Hướng phát triển</a:t>
            </a:r>
          </a:p>
        </p:txBody>
      </p:sp>
      <p:sp>
        <p:nvSpPr>
          <p:cNvPr id="588" name="TextBox 10"/>
          <p:cNvSpPr txBox="1"/>
          <p:nvPr/>
        </p:nvSpPr>
        <p:spPr>
          <a:xfrm>
            <a:off x="6583680" y="2377439"/>
            <a:ext cx="4754881" cy="2730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1100"/>
              </a:spcBef>
              <a:defRPr sz="1300" b="1">
                <a:solidFill>
                  <a:srgbClr val="4F39F6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•  </a:t>
            </a:r>
            <a:r>
              <a:rPr b="0">
                <a:solidFill>
                  <a:srgbClr val="45556C"/>
                </a:solidFill>
              </a:rPr>
              <a:t>JUnit + MockMvc + Testcontainers, đưa vào CI làm cổng chặn.</a:t>
            </a:r>
          </a:p>
          <a:p>
            <a:pPr>
              <a:spcBef>
                <a:spcPts val="1100"/>
              </a:spcBef>
              <a:defRPr sz="1300" b="1">
                <a:solidFill>
                  <a:srgbClr val="4F39F6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•  </a:t>
            </a:r>
            <a:r>
              <a:rPr b="0">
                <a:solidFill>
                  <a:srgbClr val="45556C"/>
                </a:solidFill>
              </a:rPr>
              <a:t>Cổng thanh toán thật (VNPay/Stripe); hóa đơn.</a:t>
            </a:r>
          </a:p>
          <a:p>
            <a:pPr>
              <a:spcBef>
                <a:spcPts val="1100"/>
              </a:spcBef>
              <a:defRPr sz="1300" b="1">
                <a:solidFill>
                  <a:srgbClr val="4F39F6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•  </a:t>
            </a:r>
            <a:r>
              <a:rPr b="0">
                <a:solidFill>
                  <a:srgbClr val="45556C"/>
                </a:solidFill>
              </a:rPr>
              <a:t>Tự host video (Azure Blob + HLS); upload ảnh; rich-text.</a:t>
            </a:r>
          </a:p>
          <a:p>
            <a:pPr>
              <a:spcBef>
                <a:spcPts val="1100"/>
              </a:spcBef>
              <a:defRPr sz="1300" b="1">
                <a:solidFill>
                  <a:srgbClr val="4F39F6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•  </a:t>
            </a:r>
            <a:r>
              <a:rPr b="0">
                <a:solidFill>
                  <a:srgbClr val="45556C"/>
                </a:solidFill>
              </a:rPr>
              <a:t>Refresh token → cookie httpOnly + thu hồi; OAuth2 Google.</a:t>
            </a:r>
          </a:p>
          <a:p>
            <a:pPr>
              <a:spcBef>
                <a:spcPts val="1100"/>
              </a:spcBef>
              <a:defRPr sz="1300" b="1">
                <a:solidFill>
                  <a:srgbClr val="4F39F6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•  </a:t>
            </a:r>
            <a:r>
              <a:rPr b="0">
                <a:solidFill>
                  <a:srgbClr val="45556C"/>
                </a:solidFill>
              </a:rPr>
              <a:t>WebSocket thông báo; đánh giá khóa học; full-text search.</a:t>
            </a:r>
          </a:p>
          <a:p>
            <a:pPr>
              <a:spcBef>
                <a:spcPts val="1100"/>
              </a:spcBef>
              <a:defRPr sz="1300" b="1">
                <a:solidFill>
                  <a:srgbClr val="4F39F6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•  </a:t>
            </a:r>
            <a:r>
              <a:rPr b="0">
                <a:solidFill>
                  <a:srgbClr val="45556C"/>
                </a:solidFill>
              </a:rPr>
              <a:t>Virtual threads + Redis cache khi lưu lượng tăng.</a:t>
            </a:r>
          </a:p>
        </p:txBody>
      </p:sp>
      <p:sp>
        <p:nvSpPr>
          <p:cNvPr id="589" name="Rectangle 11"/>
          <p:cNvSpPr/>
          <p:nvPr/>
        </p:nvSpPr>
        <p:spPr>
          <a:xfrm>
            <a:off x="548639" y="6382511"/>
            <a:ext cx="11094417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90" name="TextBox 12"/>
          <p:cNvSpPr txBox="1"/>
          <p:nvPr/>
        </p:nvSpPr>
        <p:spPr>
          <a:xfrm>
            <a:off x="548640" y="6455664"/>
            <a:ext cx="54864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100" b="1">
                <a:solidFill>
                  <a:srgbClr val="4F39F6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LMS</a:t>
            </a:r>
            <a:r>
              <a:rPr sz="1000" b="0">
                <a:solidFill>
                  <a:srgbClr val="62748E"/>
                </a:solidFill>
              </a:rPr>
              <a:t>  ·  Đồ án Lập trình Web (Java)</a:t>
            </a:r>
          </a:p>
        </p:txBody>
      </p:sp>
      <p:sp>
        <p:nvSpPr>
          <p:cNvPr id="591" name="TextBox 13"/>
          <p:cNvSpPr txBox="1"/>
          <p:nvPr/>
        </p:nvSpPr>
        <p:spPr>
          <a:xfrm>
            <a:off x="8899855" y="6455664"/>
            <a:ext cx="27432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0A1B9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Kết luận   21 / 22</a:t>
            </a:r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0F172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94" name="Rectangle 2"/>
          <p:cNvSpPr/>
          <p:nvPr/>
        </p:nvSpPr>
        <p:spPr>
          <a:xfrm>
            <a:off x="-1" y="6729983"/>
            <a:ext cx="12191697" cy="128017"/>
          </a:xfrm>
          <a:prstGeom prst="rect">
            <a:avLst/>
          </a:prstGeom>
          <a:solidFill>
            <a:srgbClr val="4F39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597" name="Rounded Rectangle 3"/>
          <p:cNvGrpSpPr/>
          <p:nvPr/>
        </p:nvGrpSpPr>
        <p:grpSpPr>
          <a:xfrm>
            <a:off x="640080" y="548640"/>
            <a:ext cx="566929" cy="384049"/>
            <a:chOff x="0" y="0"/>
            <a:chExt cx="566927" cy="384047"/>
          </a:xfrm>
        </p:grpSpPr>
        <p:sp>
          <p:nvSpPr>
            <p:cNvPr id="595" name="Rounded Rectangle"/>
            <p:cNvSpPr/>
            <p:nvPr/>
          </p:nvSpPr>
          <p:spPr>
            <a:xfrm>
              <a:off x="0" y="0"/>
              <a:ext cx="566928" cy="384048"/>
            </a:xfrm>
            <a:prstGeom prst="roundRect">
              <a:avLst>
                <a:gd name="adj" fmla="val 50000"/>
              </a:avLst>
            </a:prstGeom>
            <a:solidFill>
              <a:srgbClr val="4F39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596" name="LMS"/>
            <p:cNvSpPr txBox="1"/>
            <p:nvPr/>
          </p:nvSpPr>
          <p:spPr>
            <a:xfrm>
              <a:off x="58476" y="77723"/>
              <a:ext cx="449976" cy="228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500" b="1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defRPr>
              </a:lvl1pPr>
            </a:lstStyle>
            <a:p>
              <a:r>
                <a:t>LMS</a:t>
              </a:r>
            </a:p>
          </p:txBody>
        </p:sp>
      </p:grpSp>
      <p:sp>
        <p:nvSpPr>
          <p:cNvPr id="598" name="TextBox 4"/>
          <p:cNvSpPr txBox="1"/>
          <p:nvPr/>
        </p:nvSpPr>
        <p:spPr>
          <a:xfrm>
            <a:off x="1325880" y="603504"/>
            <a:ext cx="457200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700" b="1">
                <a:solidFill>
                  <a:srgbClr val="FFFFFF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LMS Platform</a:t>
            </a:r>
          </a:p>
        </p:txBody>
      </p:sp>
      <p:sp>
        <p:nvSpPr>
          <p:cNvPr id="599" name="TextBox 5"/>
          <p:cNvSpPr txBox="1"/>
          <p:nvPr/>
        </p:nvSpPr>
        <p:spPr>
          <a:xfrm>
            <a:off x="640080" y="1965455"/>
            <a:ext cx="10972801" cy="121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4000" b="1">
                <a:solidFill>
                  <a:srgbClr val="FFFFFF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Cảm ơn thầy/cô và các bạn đã lắng nghe!</a:t>
            </a:r>
          </a:p>
        </p:txBody>
      </p:sp>
      <p:sp>
        <p:nvSpPr>
          <p:cNvPr id="600" name="TextBox 6"/>
          <p:cNvSpPr txBox="1"/>
          <p:nvPr/>
        </p:nvSpPr>
        <p:spPr>
          <a:xfrm>
            <a:off x="640080" y="3429000"/>
            <a:ext cx="10972801" cy="26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700">
                <a:solidFill>
                  <a:srgbClr val="CAD5E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Nhóm 03 sẵn sàng trả lời câu hỏi và demo trực tiếp hệ thống.</a:t>
            </a:r>
          </a:p>
        </p:txBody>
      </p:sp>
      <p:sp>
        <p:nvSpPr>
          <p:cNvPr id="601" name="TextBox 7"/>
          <p:cNvSpPr txBox="1"/>
          <p:nvPr/>
        </p:nvSpPr>
        <p:spPr>
          <a:xfrm>
            <a:off x="640080" y="4480559"/>
            <a:ext cx="10972801" cy="7232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90A1B9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Demo:   </a:t>
            </a:r>
            <a:r>
              <a:rPr b="1">
                <a:solidFill>
                  <a:srgbClr val="7C86FF"/>
                </a:solidFill>
                <a:latin typeface="Consolas"/>
                <a:ea typeface="Consolas"/>
                <a:cs typeface="Consolas"/>
                <a:sym typeface="Consolas"/>
              </a:rPr>
              <a:t>https://tuananh102.github.io/JavaDevelopment.Lms/</a:t>
            </a:r>
          </a:p>
          <a:p>
            <a:pPr>
              <a:spcBef>
                <a:spcPts val="600"/>
              </a:spcBef>
              <a:defRPr sz="1400">
                <a:solidFill>
                  <a:srgbClr val="90A1B9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API:      </a:t>
            </a:r>
            <a:r>
              <a:rPr b="1">
                <a:solidFill>
                  <a:srgbClr val="7C86FF"/>
                </a:solidFill>
                <a:latin typeface="Consolas"/>
                <a:ea typeface="Consolas"/>
                <a:cs typeface="Consolas"/>
                <a:sym typeface="Consolas"/>
              </a:rPr>
              <a:t>https://</a:t>
            </a:r>
            <a:r>
              <a:rPr b="1" smtClean="0">
                <a:solidFill>
                  <a:srgbClr val="7C86FF"/>
                </a:solidFill>
                <a:latin typeface="Consolas"/>
                <a:ea typeface="Consolas"/>
                <a:cs typeface="Consolas"/>
                <a:sym typeface="Consolas"/>
              </a:rPr>
              <a:t>hcmute-lms.azurewebsites.net</a:t>
            </a:r>
            <a:endParaRPr b="1">
              <a:solidFill>
                <a:srgbClr val="7C86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>
              <a:defRPr sz="1400">
                <a:solidFill>
                  <a:srgbClr val="90A1B9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Source: </a:t>
            </a:r>
            <a:r>
              <a:rPr b="1">
                <a:solidFill>
                  <a:srgbClr val="7C86FF"/>
                </a:solidFill>
                <a:latin typeface="Consolas"/>
                <a:ea typeface="Consolas"/>
                <a:cs typeface="Consolas"/>
                <a:sym typeface="Consolas"/>
              </a:rPr>
              <a:t>https://github.com/tuananh102/JavaDevelopment.Lms</a:t>
            </a:r>
          </a:p>
        </p:txBody>
      </p:sp>
      <p:sp>
        <p:nvSpPr>
          <p:cNvPr id="602" name="TextBox 8"/>
          <p:cNvSpPr txBox="1"/>
          <p:nvPr/>
        </p:nvSpPr>
        <p:spPr>
          <a:xfrm>
            <a:off x="640080" y="5989320"/>
            <a:ext cx="1097280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90A1B9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r>
              <a:t>Trần Như Tuấn Anh · Trương Công Bảo · Nguyễn Thị Kim Đông — Đồ án Lập trình Web (Java) · 07/2026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2404</Words>
  <Application>Microsoft Office PowerPoint</Application>
  <PresentationFormat>Custom</PresentationFormat>
  <Paragraphs>323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Tuấn Anh</cp:lastModifiedBy>
  <cp:revision>1</cp:revision>
  <dcterms:modified xsi:type="dcterms:W3CDTF">2026-07-11T17:57:14Z</dcterms:modified>
</cp:coreProperties>
</file>